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3FB2465B-1B4E-7DF1-F932-140DE16B0573}">
          <p14:sldIdLst>
            <p14:sldId id="256"/>
          </p14:sldIdLst>
        </p14:section>
        <p14:section name="Problem" id="{ADC8A042-1C7F-DB1A-F3E8-6A0F03D129AF}">
          <p14:sldIdLst>
            <p14:sldId id="257"/>
          </p14:sldIdLst>
        </p14:section>
        <p14:section name="Solution" id="{F8704281-9CCD-D1F2-210D-6E517E642508}">
          <p14:sldIdLst>
            <p14:sldId id="258"/>
            <p14:sldId id="259"/>
            <p14:sldId id="260"/>
          </p14:sldIdLst>
        </p14:section>
        <p14:section name="Proof" id="{BD87BEB7-4363-2A1A-A070-E376747D3178}">
          <p14:sldIdLst>
            <p14:sldId id="261"/>
            <p14:sldId id="262"/>
          </p14:sldIdLst>
        </p14:section>
        <p14:section name="Execution and impact" id="{26A94B8F-CF5F-1534-9080-FA786289383C}">
          <p14:sldIdLst>
            <p14:sldId id="263"/>
            <p14:sldId id="264"/>
          </p14:sldIdLst>
        </p14:section>
        <p14:section name="Close" id="{CCCA4689-F22F-954F-8064-F90F36FF334C}">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Net profit on 36 sacks</c:v>
                </c:pt>
              </c:strCache>
            </c:strRef>
          </c:tx>
          <c:spPr>
            <a:solidFill>
              <a:srgbClr val="66766D"/>
            </a:solidFill>
            <a:effectLst/>
          </c:spPr>
          <c:invertIfNegative val="0"/>
          <c:dPt>
            <c:idx val="0"/>
            <c:invertIfNegative val="0"/>
            <c:bubble3D val="0"/>
            <c:extLst>
              <c:ext xmlns:c16="http://schemas.microsoft.com/office/drawing/2014/chart" uri="{C3380CC4-5D6E-409C-BE32-E72D297353CC}">
                <c16:uniqueId val="{00000001-B1C2-44BA-BED3-AF9A725F36A9}"/>
              </c:ext>
            </c:extLst>
          </c:dPt>
          <c:dPt>
            <c:idx val="1"/>
            <c:invertIfNegative val="0"/>
            <c:bubble3D val="0"/>
            <c:spPr>
              <a:solidFill>
                <a:srgbClr val="2E7D4F"/>
              </a:solidFill>
              <a:effectLst/>
            </c:spPr>
            <c:extLst>
              <c:ext xmlns:c16="http://schemas.microsoft.com/office/drawing/2014/chart" uri="{C3380CC4-5D6E-409C-BE32-E72D297353CC}">
                <c16:uniqueId val="{00000003-B1C2-44BA-BED3-AF9A725F36A9}"/>
              </c:ext>
            </c:extLst>
          </c:dPt>
          <c:dLbls>
            <c:numFmt formatCode="#,##0" sourceLinked="0"/>
            <c:spPr>
              <a:noFill/>
              <a:ln>
                <a:noFill/>
              </a:ln>
              <a:effectLst/>
            </c:spPr>
            <c:txPr>
              <a:bodyPr wrap="none"/>
              <a:lstStyle/>
              <a:p>
                <a:pPr>
                  <a:defRPr sz="1300" b="1"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Sold all at harvest</c:v>
                </c:pt>
                <c:pt idx="1">
                  <c:v>With KrishiVault</c:v>
                </c:pt>
              </c:strCache>
            </c:strRef>
          </c:cat>
          <c:val>
            <c:numRef>
              <c:f>Sheet1!$B$2:$B$3</c:f>
              <c:numCache>
                <c:formatCode>General</c:formatCode>
                <c:ptCount val="2"/>
                <c:pt idx="0">
                  <c:v>11740</c:v>
                </c:pt>
                <c:pt idx="1">
                  <c:v>29450</c:v>
                </c:pt>
              </c:numCache>
            </c:numRef>
          </c:val>
          <c:extLst>
            <c:ext xmlns:c16="http://schemas.microsoft.com/office/drawing/2014/chart" uri="{C3380CC4-5D6E-409C-BE32-E72D297353CC}">
              <c16:uniqueId val="{00000004-B1C2-44BA-BED3-AF9A725F36A9}"/>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66D"/>
                </a:solidFill>
                <a:latin typeface="+mn-lt"/>
              </a:defRPr>
            </a:pPr>
            <a:endParaRPr lang="en-US"/>
          </a:p>
        </c:txPr>
        <c:crossAx val="2094734552"/>
        <c:crosses val="autoZero"/>
        <c:auto val="1"/>
        <c:lblAlgn val="ctr"/>
        <c:lblOffset val="100"/>
        <c:noMultiLvlLbl val="1"/>
      </c:catAx>
      <c:valAx>
        <c:axId val="2094734552"/>
        <c:scaling>
          <c:orientation val="minMax"/>
          <c:max val="36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2E7D4F"/>
            </a:solidFill>
            <a:effectLst/>
          </c:spPr>
          <c:invertIfNegative val="0"/>
          <c:dLbls>
            <c:numFmt formatCode="#,##0" sourceLinked="0"/>
            <c:spPr>
              <a:noFill/>
              <a:ln>
                <a:noFill/>
              </a:ln>
              <a:effectLst/>
            </c:spPr>
            <c:txPr>
              <a:bodyPr wrap="none"/>
              <a:lstStyle/>
              <a:p>
                <a:pPr>
                  <a:defRPr sz="1050" b="0"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Sheet1!$B$2:$B$4</c:f>
              <c:numCache>
                <c:formatCode>General</c:formatCode>
                <c:ptCount val="3"/>
                <c:pt idx="0">
                  <c:v>17.239999999999998</c:v>
                </c:pt>
                <c:pt idx="1">
                  <c:v>126.3</c:v>
                </c:pt>
                <c:pt idx="2">
                  <c:v>492.2</c:v>
                </c:pt>
              </c:numCache>
            </c:numRef>
          </c:val>
          <c:extLst>
            <c:ext xmlns:c16="http://schemas.microsoft.com/office/drawing/2014/chart" uri="{C3380CC4-5D6E-409C-BE32-E72D297353CC}">
              <c16:uniqueId val="{00000000-902D-4A35-B691-248808160BF7}"/>
            </c:ext>
          </c:extLst>
        </c:ser>
        <c:ser>
          <c:idx val="1"/>
          <c:order val="1"/>
          <c:tx>
            <c:strRef>
              <c:f>Sheet1!$C$1</c:f>
              <c:strCache>
                <c:ptCount val="1"/>
                <c:pt idx="0">
                  <c:v>Operating cost</c:v>
                </c:pt>
              </c:strCache>
            </c:strRef>
          </c:tx>
          <c:spPr>
            <a:solidFill>
              <a:srgbClr val="66766D"/>
            </a:solidFill>
            <a:effectLst/>
          </c:spPr>
          <c:invertIfNegative val="0"/>
          <c:dLbls>
            <c:numFmt formatCode="#,##0" sourceLinked="0"/>
            <c:spPr>
              <a:noFill/>
              <a:ln>
                <a:noFill/>
              </a:ln>
              <a:effectLst/>
            </c:spPr>
            <c:txPr>
              <a:bodyPr wrap="none"/>
              <a:lstStyle/>
              <a:p>
                <a:pPr>
                  <a:defRPr sz="1050" b="0"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Sheet1!$C$2:$C$4</c:f>
              <c:numCache>
                <c:formatCode>General</c:formatCode>
                <c:ptCount val="3"/>
                <c:pt idx="0">
                  <c:v>18.5</c:v>
                </c:pt>
                <c:pt idx="1">
                  <c:v>58</c:v>
                </c:pt>
                <c:pt idx="2">
                  <c:v>145</c:v>
                </c:pt>
              </c:numCache>
            </c:numRef>
          </c:val>
          <c:extLst>
            <c:ext xmlns:c16="http://schemas.microsoft.com/office/drawing/2014/chart" uri="{C3380CC4-5D6E-409C-BE32-E72D297353CC}">
              <c16:uniqueId val="{00000001-902D-4A35-B691-248808160BF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66D"/>
                </a:solidFill>
                <a:latin typeface="+mn-lt"/>
              </a:defRPr>
            </a:pPr>
            <a:endParaRPr lang="en-US"/>
          </a:p>
        </c:txPr>
        <c:crossAx val="2094734552"/>
        <c:crosses val="autoZero"/>
        <c:auto val="1"/>
        <c:lblAlgn val="ctr"/>
        <c:lblOffset val="100"/>
        <c:noMultiLvlLbl val="1"/>
      </c:catAx>
      <c:valAx>
        <c:axId val="2094734552"/>
        <c:scaling>
          <c:orientation val="minMax"/>
          <c:max val="5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100">
              <a:solidFill>
                <a:srgbClr val="12241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591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 Speaker A]
DO: The slide opens and the clip plays by itself (34 s, English subtitles). Say nothing and do not click while it plays: a click jumps to slide 2. When it ends, the caption fades in, then seven cards (four news reports, two studies, our promise), one by one. Start speaking as the first card appears. Test the sound on the venue laptop.
SAY (after the clip, as the cards come in):
"He grows the crop. Someone else gets paid for waiting.
And he is not alone. February 2025: farmers selling at half their cost. October: prices crash, and unsold sacks pass to the cold storage. This July: rents up again.
Research has said it since 2014: high rent, an uncertain price, no cash.
We are KrishiVault, and we make sure the farmer can wait."
IF THE VIDEO FAILS: hold up a button phone. "This is the only device the farmer in our story owns. Everything we show you today works on it." Click once: the cards still appear.
THE CARDS (all opened and checked on 16 October 2026):
- The Business Standard, 13 Feb 2025, "Farmers strain under losses, selling potatoes at half the production cost": farm gate ৳7-9 a kg; cost ৳17.26 (Department of Agricultural Marketing).
- bdnews24, 23 Apr 2025, "Surplus potatoes, empty pockets": record area, cold storages full; farmers allege middlemen bought storage booking slips in advance (a manager denied local farmers were displaced).
- The Daily Star, 15 Oct 2025, "Potato farmers left in the lurch as prices crash": ৳8 a kg wholesale; DAE cost in the north ৳14.5-16; after 15 November unsold stock passes to the cold-storage owners.
- Dhaka Tribune, 1 Jul 2026, "Potato farmers protest cold storage rent hike in Rangpur": rent raised to ৳450 a 50-kg sack; potatoes at ৳14-15 a kg against a ৳25-26 cost.
- BRAC University value-chain study (Bogura, Munshiganj; 2016 fieldwork): farmer ৳480.38, retailer ৳818.50 per 40 kg. Study-period prices; the gap also pays transport, labour and losses, so never call it all trader profit.
- Hajong, Moniruzzaman, Mia, Rahman (2014), "Storage System of Potato in Bangladesh", Universal Journal of Agricultural Research 2(1): Rangpur, 10 cold storages, 20 traders, 30 farmers; farmers cannot use cold storage because of high charges, an uncertain future price and financial insolvency; prices lowest at harvest, peak in December.
ABOUT THE CLIP: our own field interview, recorded 14 October 2026 (cut from presentation material/IMG_4781.MOV; cuts and subtitles in scripts/pitch_deck/hook_cuts.json). He grows potatoes, maize and rice; uses a button phone and cannot read SMS; sells at the haat and "never makes the money we should"; "some years profit, some years loss". Do not name him without his consent.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[0:55-1:35 · Speaker A]
SAY:
"Every March, a potato farmer asks one question: store or sell, and until when?
After a normal crop the shop price nearly doubles. Yet farmers sell 64 percent at harvest, and traders buy almost all that goes into cold storage.
Three traps hold him. Cash: loans and the trader's advance fall due the week he harvests. Flat rent: 300 taka a sack for one month or nine, so fear makes him pay for nine and sell after two. And a blind bet: 2024 doubled, 2025 never rose. Nobody tells him which year it is.
A price alert does not pay today's debt."
IF ASKED:
- "The study is from 2016?" Yes, and we say so. Today's prices and production are our own data (WFP 2024-26, BBS 2024-25), and the 2025 news shows the same pattern.
- "Why retail prices?" WFP publishes retail; farm-gate moves with it. Real farm-gate history is on our data list.
- "The news says ৳450 a sack, you say ৳300?" ৳300 for an 84-kg sack is the plan's figure; rents differ by district and sack size and are rising. Every cost is editable in the engine, and the field check sets this season's.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[1:35-2:10 · Speaker A]
SAY:
"So what is KrishiVault? A voice-first service for potato farmers. It tells him how many sacks to sell now and how many to store, until when, and lets a bank lend against the stored sacks, so he can afford to wait.
Every trap gets an answer: cash without selling, the sums sack by sack, an outlook with a range, and a voice call, because he can't read an SMS.
Farmers never pay. Cold storages, banks and buyers do."
HAND OVER: "B will walk you through one season."
IF ASKED:
- "Isn't this just another agri app?" No app: a voice call, USSD and SMS on any phone, and the cash through a bank. An app gives information; information without cash changes nothing at harvest.
- "Do you give loans?" No. The bank decides and pays; we verify, value and connect, and never hold money.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[2:10-2:40 · Speaker B]
SAY:
"One farmer, one season. He calls with two numbers: 36 sacks, and 25 thousand taka needed this week.
The engine answers: sell 19 now, which covers his 25 thousand; store 17 until December. Net profit about 13 thousand, not five and a half.
The cold storage issues a receipt in his name; a bank lends against it.
When the price is right, an alert says how many to sell and to whom. The sale repays the storage, then the bank, then him."
IF ASKED:
- "Where do these numbers come from?" The engine, with the plan's costs (৳300 rent, 8.65% weight loss) and a ৳14 a kg growing cost (DAE Bogura 2024-25); the farmer's own figures replace them.
- "Won't partner fees bias the advice?" No paid placement: buyers are ranked by money left in the farmer's hand.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[2:40-4:05 · Speaker B · about 35 s talk, then a 50 s demo]
SAY:
"The farmer in our video can't read an SMS, so KrishiVault starts with his voice.
AI where language and uncertainty live; fixed rules where money lives.
AI listens: Google's Bangla speech and our own dialect parser. Gemini only fills gaps, and every number must have been said.
The decision is statistics and exact sums: 2,000 simulated price paths driven by the crop size, then rent, weight loss and interest.
AI speaks under a number lock: change one figure and the answer is thrown out.
It's live. Let me show you."
DEMO (click koryu.ninja, about 50 s):
1. Top bar: "Live Voice Call". Press the first "Try" sentence: "হামার ৮০ মণ আলু উঠছে, ফড়িয়া ১৬ টেকা দিবার চায়, ২৫ হাজার টেকা নাগবে ৪ দিনের মইধ্যে". Say: "Dialect, understood; every number read back."
2. Press 1. The answer: "Sell 19 sacks now, store 17 until December." Say: "It also tells him the bad case. Nobody else tells a farmer that."
3. Press 2 (cold-storage request) or send the SMS / place the phone call to a teammate's phone.
4. If time: USSD preview, ask a judge for two numbers.
FALLBACK: the screen recording in a second tab; if anything stalls 5 s, switch without comment.
Back to the slides with Alt+Tab.
IF ASKED:
- "Why not deep learning?" Two seasons of clean prices: XGBoost or LSTM would overfit. They come once 15 years of DAM prices are loaded and they beat today's outlook on past seasons.
- "Which AI exactly?" Google speech-to-text and text-to-speech (Bangla), Gemini Flash for understanding and rewording; the outlook is a statistical simulation; the decision is deterministic.
- "Can the AI get a number wrong?" It cannot reach the farmer: numbers must have been said on the way in, are read back for a keypad yes, and the number lock checks every figure on the way out.
- "Is it a chatbot?" No, a guided call: it asks only what it needs, reads it back, answers in taka with the risk.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[4:05-4:40 · Speaker B]
SAY:
"Does it work? We replayed two real seasons with only what was known at harvest.
2024, a normal crop: sell 11, store 25. Net profit two and a half times higher.
2025, a big crop: sell now. Storing would have lost up to 25 thousand taka. An advisor that says 'don't store' is one you can trust.
The outlook missed by 11 percent, against 52 for the usual seasonal pattern. Two seasons is a first test, not proof."
IF ASKED:
- "Two seasons: why trust it?" We don't ask you to. It gives a range, shows the bad case, never bets the whole crop on one month (30-40% sold at harvest), and in a glut year banks lend at most 50%.
- "Storing everything in 2024 would have made more?" Yes, about 3.4 times, but nobody could know that in March. Our rule never bets the whole crop.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[4:40-5:10 · Speaker B]
SAY:
"Traders give cash, but at the harvest low. Price apps give a price, but no cash. Banks have cash, but can't check a farmer's potatoes.
Only KrishiVault closes the loop, and that is hard to copy: cold storages and banks both earn by staying in it, and every consented call adds data nobody else has.
Receipt lending already lets farmers wait in India. Bangladesh already has the cold storages."
IF ASKED:
- "Why would cold storages join, when early turnover helps them?" Group bookings fill space early, verified receipts bring them loan customers, fees are collected at the sale, and we track only our tagged sacks, not their books.
- "Why would banks lend against potatoes?" A named, weighed receipt from a verified cold storage, sacks held for the bank, valued at the low price after the 8.65% loss, and the sale repays the bank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[5:10-5:45 · Speaker C]
SAY:
"Next harvest we start in Kahaloo, Bogura: 50 to 100 farmers, one or two cold storages, one lender. Then Bogura and Munshiganj, then the country, with onion next.
Farmers never pay a fee. Partners pay only when they gain: 4 percent of the rent from cold storages, one and a half from banks, 1 from buyers, and a share of the voice line with Grameenphone.
20 lakh taka runs the first year. We project break-even around month 15, and the pilot tests it."
IF ASKED:
- "Who are your partners?" The prototype uses demo partners, labelled. BKB, BRAC, PKSF, Himadri and PRAN are organizations we will approach, not partners yet.
- "What could kill this?" Partners refusing the fees. The pilot measures it: price received against neighbours, loans used instead of early sales, and repayment.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[5:45-6:15 · Speaker C]
SAY:
"For one farmer: two and a half times the profit in a normal year, and no storage loss in a glut.
At year-three scale, about 118 crore taka more to farmers in a normal year. An illustration, not a forecast.
Less food wasted, because nobody stores into a glut. And stock the government can finally see, with the farmer's consent.
All on a button phone like his, in his own dialect."
IF ASKED:
- "If every farmer stores, won't the rise disappear?" Partly, and that is the point: the gap shrinks and moves to farmers, and consumers see smoother prices. We never advise the whole crop, and the government screen watches stored stock.
- "Privacy?" Counted only after the farmer presses 8; no names or numbers; districts with fewer than 5 farmers are hidden.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[6:15-6:35 · Speaker A; about 20 s spare]
SAY:
"Next March, he will ask the same question. This time he gets the sums, the cash to wait, and a receipt with his own name on it.
আলু রাখবেন না বেচবেন, কবে বেচবেন: হিসাব করে বলে কৃষিভল্ট।
Help us open the first cold storage and the first lender in Kahaloo. Thank you."
Q&amp;A RULES (3 minutes): the answer in the first sentence, one number, under 25 seconds, then bridge back to something they saw. If we don't know: "We don't know yet; the pilot measures it this way." Never argue. Full playbook: docs/presentation_plan.md.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V Dark Full">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V Content Ligh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KrishiVault  ·  কৃষিভল্ট</a:t>
            </a:r>
            <a:endParaRPr lang="en-US" sz="1000" dirty="0"/>
          </a:p>
        </p:txBody>
      </p:sp>
      <p:sp>
        <p:nvSpPr>
          <p:cNvPr id="3" name="Text 1"/>
          <p:cNvSpPr>
            <a:spLocks noGrp="1"/>
          </p:cNvSpPr>
          <p:nvPr>
            <p:ph type="body" idx="101" hasCustomPrompt="1"/>
          </p:nvPr>
        </p:nvSpPr>
        <p:spPr>
          <a:xfrm>
            <a:off x="548640" y="384048"/>
            <a:ext cx="11094415" cy="274320"/>
          </a:xfrm>
          <a:prstGeom prst="rect">
            <a:avLst/>
          </a:prstGeom>
          <a:noFill/>
          <a:ln/>
        </p:spPr>
        <p:txBody>
          <a:bodyPr wrap="square" rtlCol="0"/>
          <a:lstStyle>
            <a:lvl1pPr marL="0" indent="0" algn="l">
              <a:buNone/>
              <a:defRPr lang="en-US" sz="1200" b="1" kern="0" spc="200" dirty="0">
                <a:solidFill>
                  <a:schemeClr val="accent2"/>
                </a:solidFill>
              </a:defRPr>
            </a:lvl1pPr>
          </a:lstStyle>
          <a:p>
            <a:pPr marL="0" indent="0" algn="l">
              <a:buNone/>
            </a:pPr>
            <a:endParaRPr lang="en-US" sz="1200" dirty="0"/>
          </a:p>
        </p:txBody>
      </p:sp>
      <p:sp>
        <p:nvSpPr>
          <p:cNvPr id="4" name="Text 1"/>
          <p:cNvSpPr>
            <a:spLocks noGrp="1"/>
          </p:cNvSpPr>
          <p:nvPr>
            <p:ph type="title" idx="102" hasCustomPrompt="1"/>
          </p:nvPr>
        </p:nvSpPr>
        <p:spPr>
          <a:xfrm>
            <a:off x="548640" y="676656"/>
            <a:ext cx="11094415" cy="914400"/>
          </a:xfrm>
          <a:prstGeom prst="rect">
            <a:avLst/>
          </a:prstGeom>
          <a:noFill/>
          <a:ln/>
        </p:spPr>
        <p:txBody>
          <a:bodyPr wrap="square" rtlCol="0"/>
          <a:lstStyle>
            <a:lvl1pPr marL="0" indent="0" algn="l">
              <a:buNone/>
              <a:defRPr lang="en-US" sz="3000" b="1" dirty="0">
                <a:solidFill>
                  <a:schemeClr val="tx2"/>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V Content Dark">
    <p:bg>
      <p:bgPr>
        <a:solidFill>
          <a:schemeClr val="tx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A9BDB0"/>
                </a:solidFill>
              </a:rPr>
              <a:t>KrishiVault  ·  কৃষিভল্ট</a:t>
            </a:r>
            <a:endParaRPr lang="en-US" sz="1000" dirty="0"/>
          </a:p>
        </p:txBody>
      </p:sp>
      <p:sp>
        <p:nvSpPr>
          <p:cNvPr id="3" name="Text 1"/>
          <p:cNvSpPr>
            <a:spLocks noGrp="1"/>
          </p:cNvSpPr>
          <p:nvPr>
            <p:ph type="body" idx="101" hasCustomPrompt="1"/>
          </p:nvPr>
        </p:nvSpPr>
        <p:spPr>
          <a:xfrm>
            <a:off x="548640" y="384048"/>
            <a:ext cx="11094415" cy="274320"/>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548640" y="676656"/>
            <a:ext cx="11094415" cy="914400"/>
          </a:xfrm>
          <a:prstGeom prst="rect">
            <a:avLst/>
          </a:prstGeom>
          <a:noFill/>
          <a:ln/>
        </p:spPr>
        <p:txBody>
          <a:bodyPr wrap="square" rtlCol="0"/>
          <a:lstStyle>
            <a:lvl1pPr marL="0" indent="0" algn="l">
              <a:buNone/>
              <a:defRPr lang="en-US" sz="3000" b="1" dirty="0">
                <a:solidFill>
                  <a:schemeClr val="bg1"/>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9BDB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s://koryu.ninja/"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koryu.ninj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Farmer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
        <p:nvSpPr>
          <p:cNvPr id="2" name="Hook overlay"/>
          <p:cNvSpPr/>
          <p:nvPr/>
        </p:nvSpPr>
        <p:spPr>
          <a:xfrm>
            <a:off x="0" y="0"/>
            <a:ext cx="12191695" cy="6858000"/>
          </a:xfrm>
          <a:prstGeom prst="rect">
            <a:avLst/>
          </a:prstGeom>
          <a:solidFill>
            <a:schemeClr val="tx2">
              <a:alpha val="90000"/>
            </a:schemeClr>
          </a:solidFill>
          <a:ln/>
        </p:spPr>
      </p:sp>
      <p:sp>
        <p:nvSpPr>
          <p:cNvPr id="4" name="Hook kicker"/>
          <p:cNvSpPr txBox="1"/>
          <p:nvPr/>
        </p:nvSpPr>
        <p:spPr>
          <a:xfrm>
            <a:off x="548640" y="457200"/>
            <a:ext cx="11094415"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HE IS NOT ALONE  ·  THE SAME STORY, SEASON AFTER SEASON</a:t>
            </a:r>
            <a:endParaRPr lang="en-US" sz="1300" dirty="0"/>
          </a:p>
        </p:txBody>
      </p:sp>
      <p:sp>
        <p:nvSpPr>
          <p:cNvPr id="5" name="Hook caption"/>
          <p:cNvSpPr txBox="1"/>
          <p:nvPr/>
        </p:nvSpPr>
        <p:spPr>
          <a:xfrm>
            <a:off x="548640" y="786384"/>
            <a:ext cx="11094415" cy="566928"/>
          </a:xfrm>
          <a:prstGeom prst="rect">
            <a:avLst/>
          </a:prstGeom>
          <a:noFill/>
          <a:ln/>
        </p:spPr>
        <p:txBody>
          <a:bodyPr wrap="square" lIns="0" tIns="0" rIns="0" bIns="0" rtlCol="0" anchor="t"/>
          <a:lstStyle/>
          <a:p>
            <a:pPr marL="0" indent="0">
              <a:buNone/>
            </a:pPr>
            <a:r>
              <a:rPr lang="en-US" sz="2800" b="1" dirty="0">
                <a:solidFill>
                  <a:schemeClr val="bg1"/>
                </a:solidFill>
                <a:latin typeface="Georgia" pitchFamily="34" charset="0"/>
                <a:ea typeface="Georgia" pitchFamily="34" charset="-122"/>
                <a:cs typeface="Georgia" pitchFamily="34" charset="-120"/>
              </a:rPr>
              <a:t>He grows the crop. </a:t>
            </a:r>
            <a:r>
              <a:rPr lang="en-US" sz="2800" b="1" dirty="0">
                <a:solidFill>
                  <a:schemeClr val="accent1"/>
                </a:solidFill>
                <a:latin typeface="Georgia" pitchFamily="34" charset="0"/>
                <a:ea typeface="Georgia" pitchFamily="34" charset="-122"/>
                <a:cs typeface="Georgia" pitchFamily="34" charset="-120"/>
              </a:rPr>
              <a:t>Someone else gets paid for waiting.</a:t>
            </a:r>
            <a:endParaRPr lang="en-US" sz="2800" dirty="0"/>
          </a:p>
        </p:txBody>
      </p:sp>
      <p:grpSp>
        <p:nvGrpSpPr>
          <p:cNvPr id="32" name="Evidence 1"/>
          <p:cNvGrpSpPr/>
          <p:nvPr/>
        </p:nvGrpSpPr>
        <p:grpSpPr>
          <a:xfrm>
            <a:off x="548640" y="1600200"/>
            <a:ext cx="2636444" cy="2468880"/>
            <a:chOff x="548640" y="1600200"/>
            <a:chExt cx="2636444" cy="2468880"/>
          </a:xfrm>
        </p:grpSpPr>
        <p:sp>
          <p:nvSpPr>
            <p:cNvPr id="6" name="Ev 1 card"/>
            <p:cNvSpPr/>
            <p:nvPr/>
          </p:nvSpPr>
          <p:spPr>
            <a:xfrm>
              <a:off x="548640" y="1600200"/>
              <a:ext cx="2636444" cy="2468880"/>
            </a:xfrm>
            <a:prstGeom prst="rect">
              <a:avLst/>
            </a:prstGeom>
            <a:solidFill>
              <a:schemeClr val="bg1"/>
            </a:solidFill>
            <a:ln w="9525">
              <a:solidFill>
                <a:srgbClr val="D9E2D6"/>
              </a:solidFill>
              <a:prstDash val="solid"/>
            </a:ln>
            <a:effectLst>
              <a:outerShdw blurRad="88900" dist="25400" dir="5400000" algn="bl" rotWithShape="0">
                <a:srgbClr val="000000">
                  <a:alpha val="35000"/>
                </a:srgbClr>
              </a:outerShdw>
            </a:effectLst>
          </p:spPr>
        </p:sp>
        <p:sp>
          <p:nvSpPr>
            <p:cNvPr id="7" name="Ev 1 source"/>
            <p:cNvSpPr txBox="1"/>
            <p:nvPr/>
          </p:nvSpPr>
          <p:spPr>
            <a:xfrm>
              <a:off x="731520" y="1764792"/>
              <a:ext cx="2270684" cy="237744"/>
            </a:xfrm>
            <a:prstGeom prst="rect">
              <a:avLst/>
            </a:prstGeom>
            <a:noFill/>
            <a:ln/>
          </p:spPr>
          <p:txBody>
            <a:bodyPr wrap="square" lIns="0" tIns="0" rIns="0" bIns="0" rtlCol="0" anchor="t"/>
            <a:lstStyle/>
            <a:p>
              <a:pPr marL="0" indent="0">
                <a:buNone/>
              </a:pPr>
              <a:r>
                <a:rPr lang="en-US" sz="1050" b="1" kern="0" spc="50" dirty="0">
                  <a:solidFill>
                    <a:schemeClr val="accent3"/>
                  </a:solidFill>
                </a:rPr>
                <a:t>FEB 2025  ·  BUSINESS STANDARD</a:t>
              </a:r>
              <a:endParaRPr lang="en-US" sz="1050" dirty="0"/>
            </a:p>
          </p:txBody>
        </p:sp>
        <p:sp>
          <p:nvSpPr>
            <p:cNvPr id="8" name="Ev 1 headline"/>
            <p:cNvSpPr txBox="1"/>
            <p:nvPr/>
          </p:nvSpPr>
          <p:spPr>
            <a:xfrm>
              <a:off x="731520" y="2057400"/>
              <a:ext cx="2270684"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Farmers strain under losses, selling potatoes at half the production cost</a:t>
              </a:r>
              <a:endParaRPr lang="en-US" sz="1500" dirty="0"/>
            </a:p>
          </p:txBody>
        </p:sp>
        <p:sp>
          <p:nvSpPr>
            <p:cNvPr id="9" name="Ev 1 fact"/>
            <p:cNvSpPr txBox="1"/>
            <p:nvPr/>
          </p:nvSpPr>
          <p:spPr>
            <a:xfrm>
              <a:off x="731520" y="3172968"/>
              <a:ext cx="2270684" cy="777240"/>
            </a:xfrm>
            <a:prstGeom prst="rect">
              <a:avLst/>
            </a:prstGeom>
            <a:noFill/>
            <a:ln/>
          </p:spPr>
          <p:txBody>
            <a:bodyPr wrap="square" lIns="0" tIns="0" rIns="0" bIns="0" rtlCol="0" anchor="t"/>
            <a:lstStyle/>
            <a:p>
              <a:pPr marL="0" indent="0">
                <a:buNone/>
              </a:pPr>
              <a:r>
                <a:rPr lang="en-US" sz="1250" dirty="0">
                  <a:solidFill>
                    <a:schemeClr val="tx1"/>
                  </a:solidFill>
                </a:rPr>
                <a:t>৳7–9 a kg at the farm gate, against a ৳17.26 cost.</a:t>
              </a:r>
              <a:endParaRPr lang="en-US" sz="1250" dirty="0"/>
            </a:p>
          </p:txBody>
        </p:sp>
      </p:grpSp>
      <p:grpSp>
        <p:nvGrpSpPr>
          <p:cNvPr id="33" name="Evidence 2"/>
          <p:cNvGrpSpPr/>
          <p:nvPr/>
        </p:nvGrpSpPr>
        <p:grpSpPr>
          <a:xfrm>
            <a:off x="3367964" y="1600200"/>
            <a:ext cx="2636444" cy="2468880"/>
            <a:chOff x="3367964" y="1600200"/>
            <a:chExt cx="2636444" cy="2468880"/>
          </a:xfrm>
        </p:grpSpPr>
        <p:sp>
          <p:nvSpPr>
            <p:cNvPr id="10" name="Ev 2 card"/>
            <p:cNvSpPr/>
            <p:nvPr/>
          </p:nvSpPr>
          <p:spPr>
            <a:xfrm>
              <a:off x="3367964" y="1600200"/>
              <a:ext cx="2636444" cy="2468880"/>
            </a:xfrm>
            <a:prstGeom prst="rect">
              <a:avLst/>
            </a:prstGeom>
            <a:solidFill>
              <a:schemeClr val="bg1"/>
            </a:solidFill>
            <a:ln w="9525">
              <a:solidFill>
                <a:srgbClr val="D9E2D6"/>
              </a:solidFill>
              <a:prstDash val="solid"/>
            </a:ln>
            <a:effectLst>
              <a:outerShdw blurRad="88900" dist="25400" dir="5400000" algn="bl" rotWithShape="0">
                <a:srgbClr val="000000">
                  <a:alpha val="35000"/>
                </a:srgbClr>
              </a:outerShdw>
            </a:effectLst>
          </p:spPr>
        </p:sp>
        <p:sp>
          <p:nvSpPr>
            <p:cNvPr id="11" name="Ev 2 source"/>
            <p:cNvSpPr txBox="1"/>
            <p:nvPr/>
          </p:nvSpPr>
          <p:spPr>
            <a:xfrm>
              <a:off x="3550844" y="1764792"/>
              <a:ext cx="2270684" cy="237744"/>
            </a:xfrm>
            <a:prstGeom prst="rect">
              <a:avLst/>
            </a:prstGeom>
            <a:noFill/>
            <a:ln/>
          </p:spPr>
          <p:txBody>
            <a:bodyPr wrap="square" lIns="0" tIns="0" rIns="0" bIns="0" rtlCol="0" anchor="t"/>
            <a:lstStyle/>
            <a:p>
              <a:pPr marL="0" indent="0">
                <a:buNone/>
              </a:pPr>
              <a:r>
                <a:rPr lang="en-US" sz="1050" b="1" kern="0" spc="50" dirty="0">
                  <a:solidFill>
                    <a:schemeClr val="accent3"/>
                  </a:solidFill>
                </a:rPr>
                <a:t>APR 2025  ·  BDNEWS24</a:t>
              </a:r>
              <a:endParaRPr lang="en-US" sz="1050" dirty="0"/>
            </a:p>
          </p:txBody>
        </p:sp>
        <p:sp>
          <p:nvSpPr>
            <p:cNvPr id="12" name="Ev 2 headline"/>
            <p:cNvSpPr txBox="1"/>
            <p:nvPr/>
          </p:nvSpPr>
          <p:spPr>
            <a:xfrm>
              <a:off x="3550844" y="2057400"/>
              <a:ext cx="2270684"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Surplus potatoes, empty pockets</a:t>
              </a:r>
              <a:endParaRPr lang="en-US" sz="1500" dirty="0"/>
            </a:p>
          </p:txBody>
        </p:sp>
        <p:sp>
          <p:nvSpPr>
            <p:cNvPr id="13" name="Ev 2 fact"/>
            <p:cNvSpPr txBox="1"/>
            <p:nvPr/>
          </p:nvSpPr>
          <p:spPr>
            <a:xfrm>
              <a:off x="3550844" y="3172968"/>
              <a:ext cx="2270684" cy="777240"/>
            </a:xfrm>
            <a:prstGeom prst="rect">
              <a:avLst/>
            </a:prstGeom>
            <a:noFill/>
            <a:ln/>
          </p:spPr>
          <p:txBody>
            <a:bodyPr wrap="square" lIns="0" tIns="0" rIns="0" bIns="0" rtlCol="0" anchor="t"/>
            <a:lstStyle/>
            <a:p>
              <a:pPr marL="0" indent="0">
                <a:buNone/>
              </a:pPr>
              <a:r>
                <a:rPr lang="en-US" sz="1250" dirty="0">
                  <a:solidFill>
                    <a:schemeClr val="tx1"/>
                  </a:solidFill>
                </a:rPr>
                <a:t>Cold storages full; farmers say middlemen bought the booking slips in advance.</a:t>
              </a:r>
              <a:endParaRPr lang="en-US" sz="1250" dirty="0"/>
            </a:p>
          </p:txBody>
        </p:sp>
      </p:grpSp>
      <p:grpSp>
        <p:nvGrpSpPr>
          <p:cNvPr id="34" name="Evidence 3"/>
          <p:cNvGrpSpPr/>
          <p:nvPr/>
        </p:nvGrpSpPr>
        <p:grpSpPr>
          <a:xfrm>
            <a:off x="6187288" y="1600200"/>
            <a:ext cx="2636444" cy="2468880"/>
            <a:chOff x="6187288" y="1600200"/>
            <a:chExt cx="2636444" cy="2468880"/>
          </a:xfrm>
        </p:grpSpPr>
        <p:sp>
          <p:nvSpPr>
            <p:cNvPr id="14" name="Ev 3 card"/>
            <p:cNvSpPr/>
            <p:nvPr/>
          </p:nvSpPr>
          <p:spPr>
            <a:xfrm>
              <a:off x="6187288" y="1600200"/>
              <a:ext cx="2636444" cy="2468880"/>
            </a:xfrm>
            <a:prstGeom prst="rect">
              <a:avLst/>
            </a:prstGeom>
            <a:solidFill>
              <a:schemeClr val="bg1"/>
            </a:solidFill>
            <a:ln w="9525">
              <a:solidFill>
                <a:srgbClr val="D9E2D6"/>
              </a:solidFill>
              <a:prstDash val="solid"/>
            </a:ln>
            <a:effectLst>
              <a:outerShdw blurRad="88900" dist="25400" dir="5400000" algn="bl" rotWithShape="0">
                <a:srgbClr val="000000">
                  <a:alpha val="35000"/>
                </a:srgbClr>
              </a:outerShdw>
            </a:effectLst>
          </p:spPr>
        </p:sp>
        <p:sp>
          <p:nvSpPr>
            <p:cNvPr id="15" name="Ev 3 source"/>
            <p:cNvSpPr txBox="1"/>
            <p:nvPr/>
          </p:nvSpPr>
          <p:spPr>
            <a:xfrm>
              <a:off x="6370168" y="1764792"/>
              <a:ext cx="2270684" cy="237744"/>
            </a:xfrm>
            <a:prstGeom prst="rect">
              <a:avLst/>
            </a:prstGeom>
            <a:noFill/>
            <a:ln/>
          </p:spPr>
          <p:txBody>
            <a:bodyPr wrap="square" lIns="0" tIns="0" rIns="0" bIns="0" rtlCol="0" anchor="t"/>
            <a:lstStyle/>
            <a:p>
              <a:pPr marL="0" indent="0">
                <a:buNone/>
              </a:pPr>
              <a:r>
                <a:rPr lang="en-US" sz="1050" b="1" kern="0" spc="50" dirty="0">
                  <a:solidFill>
                    <a:schemeClr val="accent3"/>
                  </a:solidFill>
                </a:rPr>
                <a:t>OCT 2025  ·  THE DAILY STAR</a:t>
              </a:r>
              <a:endParaRPr lang="en-US" sz="1050" dirty="0"/>
            </a:p>
          </p:txBody>
        </p:sp>
        <p:sp>
          <p:nvSpPr>
            <p:cNvPr id="16" name="Ev 3 headline"/>
            <p:cNvSpPr txBox="1"/>
            <p:nvPr/>
          </p:nvSpPr>
          <p:spPr>
            <a:xfrm>
              <a:off x="6370168" y="2057400"/>
              <a:ext cx="2270684"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Potato farmers left in the lurch as prices crash</a:t>
              </a:r>
              <a:endParaRPr lang="en-US" sz="1500" dirty="0"/>
            </a:p>
          </p:txBody>
        </p:sp>
        <p:sp>
          <p:nvSpPr>
            <p:cNvPr id="17" name="Ev 3 fact"/>
            <p:cNvSpPr txBox="1"/>
            <p:nvPr/>
          </p:nvSpPr>
          <p:spPr>
            <a:xfrm>
              <a:off x="6370168" y="3172968"/>
              <a:ext cx="2270684" cy="777240"/>
            </a:xfrm>
            <a:prstGeom prst="rect">
              <a:avLst/>
            </a:prstGeom>
            <a:noFill/>
            <a:ln/>
          </p:spPr>
          <p:txBody>
            <a:bodyPr wrap="square" lIns="0" tIns="0" rIns="0" bIns="0" rtlCol="0" anchor="t"/>
            <a:lstStyle/>
            <a:p>
              <a:pPr marL="0" indent="0">
                <a:buNone/>
              </a:pPr>
              <a:r>
                <a:rPr lang="en-US" sz="1250" dirty="0">
                  <a:solidFill>
                    <a:schemeClr val="tx1"/>
                  </a:solidFill>
                </a:rPr>
                <a:t>৳8 a kg wholesale, half the cost. Unsold sacks pass to the cold storage after 15 November.</a:t>
              </a:r>
              <a:endParaRPr lang="en-US" sz="1250" dirty="0"/>
            </a:p>
          </p:txBody>
        </p:sp>
      </p:grpSp>
      <p:grpSp>
        <p:nvGrpSpPr>
          <p:cNvPr id="35" name="Evidence 4"/>
          <p:cNvGrpSpPr/>
          <p:nvPr/>
        </p:nvGrpSpPr>
        <p:grpSpPr>
          <a:xfrm>
            <a:off x="9006611" y="1600200"/>
            <a:ext cx="2636444" cy="2468880"/>
            <a:chOff x="9006611" y="1600200"/>
            <a:chExt cx="2636444" cy="2468880"/>
          </a:xfrm>
        </p:grpSpPr>
        <p:sp>
          <p:nvSpPr>
            <p:cNvPr id="18" name="Ev 4 card"/>
            <p:cNvSpPr/>
            <p:nvPr/>
          </p:nvSpPr>
          <p:spPr>
            <a:xfrm>
              <a:off x="9006611" y="1600200"/>
              <a:ext cx="2636444" cy="2468880"/>
            </a:xfrm>
            <a:prstGeom prst="rect">
              <a:avLst/>
            </a:prstGeom>
            <a:solidFill>
              <a:schemeClr val="bg1"/>
            </a:solidFill>
            <a:ln w="9525">
              <a:solidFill>
                <a:srgbClr val="D9E2D6"/>
              </a:solidFill>
              <a:prstDash val="solid"/>
            </a:ln>
            <a:effectLst>
              <a:outerShdw blurRad="88900" dist="25400" dir="5400000" algn="bl" rotWithShape="0">
                <a:srgbClr val="000000">
                  <a:alpha val="35000"/>
                </a:srgbClr>
              </a:outerShdw>
            </a:effectLst>
          </p:spPr>
        </p:sp>
        <p:sp>
          <p:nvSpPr>
            <p:cNvPr id="19" name="Ev 4 source"/>
            <p:cNvSpPr txBox="1"/>
            <p:nvPr/>
          </p:nvSpPr>
          <p:spPr>
            <a:xfrm>
              <a:off x="9189491" y="1764792"/>
              <a:ext cx="2270684" cy="237744"/>
            </a:xfrm>
            <a:prstGeom prst="rect">
              <a:avLst/>
            </a:prstGeom>
            <a:noFill/>
            <a:ln/>
          </p:spPr>
          <p:txBody>
            <a:bodyPr wrap="square" lIns="0" tIns="0" rIns="0" bIns="0" rtlCol="0" anchor="t"/>
            <a:lstStyle/>
            <a:p>
              <a:pPr marL="0" indent="0">
                <a:buNone/>
              </a:pPr>
              <a:r>
                <a:rPr lang="en-US" sz="1050" b="1" kern="0" spc="50" dirty="0">
                  <a:solidFill>
                    <a:schemeClr val="accent3"/>
                  </a:solidFill>
                </a:rPr>
                <a:t>JUL 2026  ·  DHAKA TRIBUNE</a:t>
              </a:r>
              <a:endParaRPr lang="en-US" sz="1050" dirty="0"/>
            </a:p>
          </p:txBody>
        </p:sp>
        <p:sp>
          <p:nvSpPr>
            <p:cNvPr id="20" name="Ev 4 headline"/>
            <p:cNvSpPr txBox="1"/>
            <p:nvPr/>
          </p:nvSpPr>
          <p:spPr>
            <a:xfrm>
              <a:off x="9189491" y="2057400"/>
              <a:ext cx="2270684"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Potato farmers protest cold storage rent hike in Rangpur</a:t>
              </a:r>
              <a:endParaRPr lang="en-US" sz="1500" dirty="0"/>
            </a:p>
          </p:txBody>
        </p:sp>
        <p:sp>
          <p:nvSpPr>
            <p:cNvPr id="21" name="Ev 4 fact"/>
            <p:cNvSpPr txBox="1"/>
            <p:nvPr/>
          </p:nvSpPr>
          <p:spPr>
            <a:xfrm>
              <a:off x="9189491" y="3172968"/>
              <a:ext cx="2270684" cy="777240"/>
            </a:xfrm>
            <a:prstGeom prst="rect">
              <a:avLst/>
            </a:prstGeom>
            <a:noFill/>
            <a:ln/>
          </p:spPr>
          <p:txBody>
            <a:bodyPr wrap="square" lIns="0" tIns="0" rIns="0" bIns="0" rtlCol="0" anchor="t"/>
            <a:lstStyle/>
            <a:p>
              <a:pPr marL="0" indent="0">
                <a:buNone/>
              </a:pPr>
              <a:r>
                <a:rPr lang="en-US" sz="1250" dirty="0">
                  <a:solidFill>
                    <a:schemeClr val="tx1"/>
                  </a:solidFill>
                </a:rPr>
                <a:t>Rent up to ৳450 a sack while potatoes sell at ৳14–15 a kg, against a ৳25–26 cost.</a:t>
              </a:r>
              <a:endParaRPr lang="en-US" sz="1250" dirty="0"/>
            </a:p>
          </p:txBody>
        </p:sp>
      </p:grpSp>
      <p:grpSp>
        <p:nvGrpSpPr>
          <p:cNvPr id="36" name="Evidence 5"/>
          <p:cNvGrpSpPr/>
          <p:nvPr/>
        </p:nvGrpSpPr>
        <p:grpSpPr>
          <a:xfrm>
            <a:off x="548640" y="4251960"/>
            <a:ext cx="4160520" cy="2148840"/>
            <a:chOff x="548640" y="4251960"/>
            <a:chExt cx="4160520" cy="2148840"/>
          </a:xfrm>
        </p:grpSpPr>
        <p:sp>
          <p:nvSpPr>
            <p:cNvPr id="22" name="Ev 5 card"/>
            <p:cNvSpPr/>
            <p:nvPr/>
          </p:nvSpPr>
          <p:spPr>
            <a:xfrm>
              <a:off x="548640" y="4251960"/>
              <a:ext cx="4160520" cy="2148840"/>
            </a:xfrm>
            <a:prstGeom prst="rect">
              <a:avLst/>
            </a:prstGeom>
            <a:solidFill>
              <a:srgbClr val="E6EEE5"/>
            </a:solidFill>
            <a:ln w="9525">
              <a:solidFill>
                <a:srgbClr val="CFDACB"/>
              </a:solidFill>
              <a:prstDash val="solid"/>
            </a:ln>
            <a:effectLst>
              <a:outerShdw blurRad="88900" dist="25400" dir="5400000" algn="bl" rotWithShape="0">
                <a:srgbClr val="000000">
                  <a:alpha val="35000"/>
                </a:srgbClr>
              </a:outerShdw>
            </a:effectLst>
          </p:spPr>
        </p:sp>
        <p:sp>
          <p:nvSpPr>
            <p:cNvPr id="23" name="Ev 5 source"/>
            <p:cNvSpPr txBox="1"/>
            <p:nvPr/>
          </p:nvSpPr>
          <p:spPr>
            <a:xfrm>
              <a:off x="749808" y="4398264"/>
              <a:ext cx="3758184" cy="237744"/>
            </a:xfrm>
            <a:prstGeom prst="rect">
              <a:avLst/>
            </a:prstGeom>
            <a:noFill/>
            <a:ln/>
          </p:spPr>
          <p:txBody>
            <a:bodyPr wrap="square" lIns="0" tIns="0" rIns="0" bIns="0" rtlCol="0" anchor="t"/>
            <a:lstStyle/>
            <a:p>
              <a:pPr marL="0" indent="0">
                <a:buNone/>
              </a:pPr>
              <a:r>
                <a:rPr lang="en-US" sz="1050" b="1" kern="0" spc="50" dirty="0">
                  <a:solidFill>
                    <a:schemeClr val="accent2"/>
                  </a:solidFill>
                </a:rPr>
                <a:t>RESEARCH  ·  BRAC UNIVERSITY  ·  2016 FIELDWORK</a:t>
              </a:r>
              <a:endParaRPr lang="en-US" sz="1050" dirty="0"/>
            </a:p>
          </p:txBody>
        </p:sp>
        <p:sp>
          <p:nvSpPr>
            <p:cNvPr id="24" name="Ev 5 headline"/>
            <p:cNvSpPr txBox="1"/>
            <p:nvPr/>
          </p:nvSpPr>
          <p:spPr>
            <a:xfrm>
              <a:off x="749808" y="4709160"/>
              <a:ext cx="3758184" cy="457200"/>
            </a:xfrm>
            <a:prstGeom prst="rect">
              <a:avLst/>
            </a:prstGeom>
            <a:noFill/>
            <a:ln/>
          </p:spPr>
          <p:txBody>
            <a:bodyPr wrap="square" lIns="0" tIns="0" rIns="0" bIns="0" rtlCol="0" anchor="t"/>
            <a:lstStyle/>
            <a:p>
              <a:pPr marL="0" indent="0">
                <a:buNone/>
              </a:pPr>
              <a:r>
                <a:rPr lang="en-US" sz="1900" b="1" dirty="0">
                  <a:solidFill>
                    <a:schemeClr val="accent3"/>
                  </a:solidFill>
                  <a:latin typeface="Georgia" pitchFamily="34" charset="0"/>
                  <a:ea typeface="Georgia" pitchFamily="34" charset="-122"/>
                  <a:cs typeface="Georgia" pitchFamily="34" charset="-120"/>
                </a:rPr>
                <a:t>Farmer ৳480 </a:t>
              </a:r>
              <a:r>
                <a:rPr lang="en-US" sz="1900" b="1" dirty="0">
                  <a:solidFill>
                    <a:schemeClr val="tx2"/>
                  </a:solidFill>
                  <a:latin typeface="Georgia" pitchFamily="34" charset="0"/>
                  <a:ea typeface="Georgia" pitchFamily="34" charset="-122"/>
                  <a:cs typeface="Georgia" pitchFamily="34" charset="-120"/>
                </a:rPr>
                <a:t>→ retailer ৳819</a:t>
              </a:r>
              <a:endParaRPr lang="en-US" sz="1900" dirty="0"/>
            </a:p>
          </p:txBody>
        </p:sp>
        <p:sp>
          <p:nvSpPr>
            <p:cNvPr id="25" name="Ev 5 fact"/>
            <p:cNvSpPr txBox="1"/>
            <p:nvPr/>
          </p:nvSpPr>
          <p:spPr>
            <a:xfrm>
              <a:off x="749808" y="5257800"/>
              <a:ext cx="3758184" cy="1051560"/>
            </a:xfrm>
            <a:prstGeom prst="rect">
              <a:avLst/>
            </a:prstGeom>
            <a:noFill/>
            <a:ln/>
          </p:spPr>
          <p:txBody>
            <a:bodyPr wrap="square" lIns="0" tIns="0" rIns="0" bIns="0" rtlCol="0" anchor="t"/>
            <a:lstStyle/>
            <a:p>
              <a:pPr marL="0" indent="0">
                <a:buNone/>
              </a:pPr>
              <a:r>
                <a:rPr lang="en-US" sz="1500" dirty="0">
                  <a:solidFill>
                    <a:schemeClr val="tx1"/>
                  </a:solidFill>
                </a:rPr>
                <a:t>for the same 40 kg in Bogura and Munshiganj, with several traders in between. Study-period prices, not today's.</a:t>
              </a:r>
              <a:endParaRPr lang="en-US" sz="1500" dirty="0"/>
            </a:p>
          </p:txBody>
        </p:sp>
      </p:grpSp>
      <p:grpSp>
        <p:nvGrpSpPr>
          <p:cNvPr id="37" name="Evidence 6"/>
          <p:cNvGrpSpPr/>
          <p:nvPr/>
        </p:nvGrpSpPr>
        <p:grpSpPr>
          <a:xfrm>
            <a:off x="4892040" y="4251960"/>
            <a:ext cx="4160520" cy="2148840"/>
            <a:chOff x="4892040" y="4251960"/>
            <a:chExt cx="4160520" cy="2148840"/>
          </a:xfrm>
        </p:grpSpPr>
        <p:sp>
          <p:nvSpPr>
            <p:cNvPr id="26" name="Ev 6 card"/>
            <p:cNvSpPr/>
            <p:nvPr/>
          </p:nvSpPr>
          <p:spPr>
            <a:xfrm>
              <a:off x="4892040" y="4251960"/>
              <a:ext cx="4160520" cy="2148840"/>
            </a:xfrm>
            <a:prstGeom prst="rect">
              <a:avLst/>
            </a:prstGeom>
            <a:solidFill>
              <a:srgbClr val="E6EEE5"/>
            </a:solidFill>
            <a:ln w="9525">
              <a:solidFill>
                <a:srgbClr val="CFDACB"/>
              </a:solidFill>
              <a:prstDash val="solid"/>
            </a:ln>
            <a:effectLst>
              <a:outerShdw blurRad="88900" dist="25400" dir="5400000" algn="bl" rotWithShape="0">
                <a:srgbClr val="000000">
                  <a:alpha val="35000"/>
                </a:srgbClr>
              </a:outerShdw>
            </a:effectLst>
          </p:spPr>
        </p:sp>
        <p:sp>
          <p:nvSpPr>
            <p:cNvPr id="27" name="Ev 6 source"/>
            <p:cNvSpPr txBox="1"/>
            <p:nvPr/>
          </p:nvSpPr>
          <p:spPr>
            <a:xfrm>
              <a:off x="5093208" y="4398264"/>
              <a:ext cx="3758184" cy="237744"/>
            </a:xfrm>
            <a:prstGeom prst="rect">
              <a:avLst/>
            </a:prstGeom>
            <a:noFill/>
            <a:ln/>
          </p:spPr>
          <p:txBody>
            <a:bodyPr wrap="square" lIns="0" tIns="0" rIns="0" bIns="0" rtlCol="0" anchor="t"/>
            <a:lstStyle/>
            <a:p>
              <a:pPr marL="0" indent="0">
                <a:buNone/>
              </a:pPr>
              <a:r>
                <a:rPr lang="en-US" sz="1050" b="1" kern="0" spc="50" dirty="0">
                  <a:solidFill>
                    <a:schemeClr val="accent2"/>
                  </a:solidFill>
                </a:rPr>
                <a:t>RESEARCH  ·  HAJONG AND OTHERS  ·  RANGPUR  ·  2014</a:t>
              </a:r>
              <a:endParaRPr lang="en-US" sz="1050" dirty="0"/>
            </a:p>
          </p:txBody>
        </p:sp>
        <p:sp>
          <p:nvSpPr>
            <p:cNvPr id="28" name="Ev 6 headline"/>
            <p:cNvSpPr txBox="1"/>
            <p:nvPr/>
          </p:nvSpPr>
          <p:spPr>
            <a:xfrm>
              <a:off x="5093208" y="4709160"/>
              <a:ext cx="3758184" cy="45720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Why farmers can't store</a:t>
              </a:r>
              <a:endParaRPr lang="en-US" sz="1900" dirty="0"/>
            </a:p>
          </p:txBody>
        </p:sp>
        <p:sp>
          <p:nvSpPr>
            <p:cNvPr id="29" name="Ev 6 fact"/>
            <p:cNvSpPr txBox="1"/>
            <p:nvPr/>
          </p:nvSpPr>
          <p:spPr>
            <a:xfrm>
              <a:off x="5093208" y="5257800"/>
              <a:ext cx="3758184" cy="1051560"/>
            </a:xfrm>
            <a:prstGeom prst="rect">
              <a:avLst/>
            </a:prstGeom>
            <a:noFill/>
            <a:ln/>
          </p:spPr>
          <p:txBody>
            <a:bodyPr wrap="square" lIns="0" tIns="0" rIns="0" bIns="0" rtlCol="0" anchor="t"/>
            <a:lstStyle/>
            <a:p>
              <a:pPr marL="0" indent="0">
                <a:buNone/>
              </a:pPr>
              <a:r>
                <a:rPr lang="en-US" sz="1500" dirty="0">
                  <a:solidFill>
                    <a:schemeClr val="tx1"/>
                  </a:solidFill>
                </a:rPr>
                <a:t>High cold-storage charges, an uncertain future price and no money. Prices bottom at harvest and peak in December.</a:t>
              </a:r>
              <a:endParaRPr lang="en-US" sz="1500" dirty="0"/>
            </a:p>
          </p:txBody>
        </p:sp>
      </p:grpSp>
      <p:grpSp>
        <p:nvGrpSpPr>
          <p:cNvPr id="38" name="Evidence 7"/>
          <p:cNvGrpSpPr/>
          <p:nvPr/>
        </p:nvGrpSpPr>
        <p:grpSpPr>
          <a:xfrm>
            <a:off x="9235440" y="4251960"/>
            <a:ext cx="2407615" cy="2148840"/>
            <a:chOff x="9235440" y="4251960"/>
            <a:chExt cx="2407615" cy="2148840"/>
          </a:xfrm>
        </p:grpSpPr>
        <p:sp>
          <p:nvSpPr>
            <p:cNvPr id="30" name="Ev 7 card"/>
            <p:cNvSpPr/>
            <p:nvPr/>
          </p:nvSpPr>
          <p:spPr>
            <a:xfrm>
              <a:off x="9235440" y="4251960"/>
              <a:ext cx="2407615" cy="2148840"/>
            </a:xfrm>
            <a:prstGeom prst="rect">
              <a:avLst/>
            </a:prstGeom>
            <a:solidFill>
              <a:schemeClr val="accent1"/>
            </a:solidFill>
            <a:ln/>
            <a:effectLst>
              <a:outerShdw blurRad="88900" dist="25400" dir="5400000" algn="bl" rotWithShape="0">
                <a:srgbClr val="000000">
                  <a:alpha val="35000"/>
                </a:srgbClr>
              </a:outerShdw>
            </a:effectLst>
          </p:spPr>
        </p:sp>
        <p:sp>
          <p:nvSpPr>
            <p:cNvPr id="31" name="Ev 7 promise"/>
            <p:cNvSpPr txBox="1"/>
            <p:nvPr/>
          </p:nvSpPr>
          <p:spPr>
            <a:xfrm>
              <a:off x="9464040" y="4251960"/>
              <a:ext cx="1996135" cy="2148840"/>
            </a:xfrm>
            <a:prstGeom prst="rect">
              <a:avLst/>
            </a:prstGeom>
            <a:noFill/>
            <a:ln/>
          </p:spPr>
          <p:txBody>
            <a:bodyPr wrap="square" lIns="0" tIns="0" rIns="0" bIns="0" rtlCol="0" anchor="ctr"/>
            <a:lstStyle/>
            <a:p>
              <a:pPr marL="0" indent="0">
                <a:buNone/>
              </a:pPr>
              <a:r>
                <a:rPr lang="en-US" sz="1900" b="1" dirty="0">
                  <a:solidFill>
                    <a:schemeClr val="tx2"/>
                  </a:solidFill>
                  <a:latin typeface="Georgia" pitchFamily="34" charset="0"/>
                  <a:ea typeface="Georgia" pitchFamily="34" charset="-122"/>
                  <a:cs typeface="Georgia" pitchFamily="34" charset="-120"/>
                </a:rPr>
                <a:t>KrishiVault makes sure the farmer can wait.</a:t>
              </a:r>
              <a:endParaRPr lang="en-US" sz="19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10" presetClass="entr" presetSubtype="0" fill="hold" nodeType="withEffect">
                                  <p:stCondLst>
                                    <p:cond delay="3440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600"/>
                                        <p:tgtEl>
                                          <p:spTgt spid="2"/>
                                        </p:tgtEl>
                                      </p:cBhvr>
                                    </p:animEffect>
                                  </p:childTnLst>
                                </p:cTn>
                              </p:par>
                              <p:par>
                                <p:cTn id="10" presetID="10" presetClass="entr" presetSubtype="0" fill="hold" grpId="0" nodeType="withEffect">
                                  <p:stCondLst>
                                    <p:cond delay="344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par>
                                <p:cTn id="13" presetID="10" presetClass="entr" presetSubtype="0" fill="hold" grpId="0" nodeType="withEffect">
                                  <p:stCondLst>
                                    <p:cond delay="34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par>
                                <p:cTn id="16" presetID="10" presetClass="entr" presetSubtype="0" fill="hold" nodeType="withEffect">
                                  <p:stCondLst>
                                    <p:cond delay="3510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par>
                                <p:cTn id="19" presetID="10" presetClass="entr" presetSubtype="0" fill="hold" nodeType="withEffect">
                                  <p:stCondLst>
                                    <p:cond delay="3545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nodeType="withEffect">
                                  <p:stCondLst>
                                    <p:cond delay="3580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nodeType="withEffect">
                                  <p:stCondLst>
                                    <p:cond delay="3615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10" presetClass="entr" presetSubtype="0" fill="hold" nodeType="withEffect">
                                  <p:stCondLst>
                                    <p:cond delay="3650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10" presetClass="entr" presetSubtype="0" fill="hold" nodeType="withEffect">
                                  <p:stCondLst>
                                    <p:cond delay="3685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par>
                                <p:cTn id="34" presetID="10" presetClass="entr" presetSubtype="0" fill="hold" nodeType="withEffect">
                                  <p:stCondLst>
                                    <p:cond delay="3720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7" fill="hold" display="0">
                  <p:stCondLst>
                    <p:cond delay="indefinite"/>
                  </p:stCondLst>
                </p:cTn>
                <p:tgtEl>
                  <p:spTgt spid="3"/>
                </p:tgtEl>
              </p:cMediaNode>
            </p:video>
            <p:seq concurrent="1" nextAc="seek">
              <p:cTn id="38" restart="whenNotActive" fill="hold" evtFilter="cancelBubble" nodeType="interactiveSeq">
                <p:stCondLst>
                  <p:cond evt="onClick" delay="0">
                    <p:tgtEl>
                      <p:spTgt spid="3"/>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3"/>
                                        </p:tgtEl>
                                      </p:cBhvr>
                                    </p:cmd>
                                  </p:childTnLst>
                                </p:cTn>
                              </p:par>
                            </p:childTnLst>
                          </p:cTn>
                        </p:par>
                      </p:childTnLst>
                    </p:cTn>
                  </p:par>
                </p:childTnLst>
              </p:cTn>
              <p:nextCondLst>
                <p:cond evt="onClick" delay="0">
                  <p:tgtEl>
                    <p:spTgt spid="3"/>
                  </p:tgtEl>
                </p:cond>
              </p:nextCondLst>
            </p:seq>
          </p:childTnLst>
        </p:cTn>
      </p:par>
    </p:tnLst>
    <p:bldLst>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THE PROBLEM  ·  11.6 MILLION TONNES OF POTATO A YEAR</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The price rise is real. It never reaches the farmer.</a:t>
            </a:r>
            <a:endParaRPr lang="en-US" sz="3000" dirty="0"/>
          </a:p>
        </p:txBody>
      </p:sp>
      <p:sp>
        <p:nvSpPr>
          <p:cNvPr id="4" name="Stat card 1"/>
          <p:cNvSpPr/>
          <p:nvPr/>
        </p:nvSpPr>
        <p:spPr>
          <a:xfrm>
            <a:off x="548640"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Text 3"/>
          <p:cNvSpPr txBox="1"/>
          <p:nvPr/>
        </p:nvSpPr>
        <p:spPr>
          <a:xfrm>
            <a:off x="749808"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accent3"/>
                </a:solidFill>
                <a:latin typeface="Georgia" pitchFamily="34" charset="0"/>
                <a:ea typeface="Georgia" pitchFamily="34" charset="-122"/>
                <a:cs typeface="Georgia" pitchFamily="34" charset="-120"/>
              </a:rPr>
              <a:t>64%</a:t>
            </a:r>
            <a:endParaRPr lang="en-US" sz="2600" dirty="0"/>
          </a:p>
        </p:txBody>
      </p:sp>
      <p:sp>
        <p:nvSpPr>
          <p:cNvPr id="6" name="Text 4"/>
          <p:cNvSpPr txBox="1"/>
          <p:nvPr/>
        </p:nvSpPr>
        <p:spPr>
          <a:xfrm>
            <a:off x="749808"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of the harvest is sold right away, at the season's lowest price ¹</a:t>
            </a:r>
            <a:endParaRPr lang="en-US" sz="1200" dirty="0"/>
          </a:p>
        </p:txBody>
      </p:sp>
      <p:sp>
        <p:nvSpPr>
          <p:cNvPr id="7" name="Stat card 2"/>
          <p:cNvSpPr/>
          <p:nvPr/>
        </p:nvSpPr>
        <p:spPr>
          <a:xfrm>
            <a:off x="3367964"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8" name="Text 6"/>
          <p:cNvSpPr txBox="1"/>
          <p:nvPr/>
        </p:nvSpPr>
        <p:spPr>
          <a:xfrm>
            <a:off x="3569132"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tx2"/>
                </a:solidFill>
                <a:latin typeface="Georgia" pitchFamily="34" charset="0"/>
                <a:ea typeface="Georgia" pitchFamily="34" charset="-122"/>
                <a:cs typeface="Georgia" pitchFamily="34" charset="-120"/>
              </a:rPr>
              <a:t>97.6%</a:t>
            </a:r>
            <a:endParaRPr lang="en-US" sz="2600" dirty="0"/>
          </a:p>
        </p:txBody>
      </p:sp>
      <p:sp>
        <p:nvSpPr>
          <p:cNvPr id="9" name="Text 7"/>
          <p:cNvSpPr txBox="1"/>
          <p:nvPr/>
        </p:nvSpPr>
        <p:spPr>
          <a:xfrm>
            <a:off x="3569132"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of cold-stored potatoes are bought by traders, not farmers ¹</a:t>
            </a:r>
            <a:endParaRPr lang="en-US" sz="1200" dirty="0"/>
          </a:p>
        </p:txBody>
      </p:sp>
      <p:sp>
        <p:nvSpPr>
          <p:cNvPr id="10" name="Stat card 3"/>
          <p:cNvSpPr/>
          <p:nvPr/>
        </p:nvSpPr>
        <p:spPr>
          <a:xfrm>
            <a:off x="6187288"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Text 9"/>
          <p:cNvSpPr txBox="1"/>
          <p:nvPr/>
        </p:nvSpPr>
        <p:spPr>
          <a:xfrm>
            <a:off x="6388456"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accent2"/>
                </a:solidFill>
                <a:latin typeface="Georgia" pitchFamily="34" charset="0"/>
                <a:ea typeface="Georgia" pitchFamily="34" charset="-122"/>
                <a:cs typeface="Georgia" pitchFamily="34" charset="-120"/>
              </a:rPr>
              <a:t>≈ 2×</a:t>
            </a:r>
            <a:endParaRPr lang="en-US" sz="2600" dirty="0"/>
          </a:p>
        </p:txBody>
      </p:sp>
      <p:sp>
        <p:nvSpPr>
          <p:cNvPr id="12" name="Text 10"/>
          <p:cNvSpPr txBox="1"/>
          <p:nvPr/>
        </p:nvSpPr>
        <p:spPr>
          <a:xfrm>
            <a:off x="6388456"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shop price after a normal crop: ৳35 in Feb, ৳67.50 by Nov 2024 ²</a:t>
            </a:r>
            <a:endParaRPr lang="en-US" sz="1200" dirty="0"/>
          </a:p>
        </p:txBody>
      </p:sp>
      <p:sp>
        <p:nvSpPr>
          <p:cNvPr id="13" name="Stat card 4"/>
          <p:cNvSpPr/>
          <p:nvPr/>
        </p:nvSpPr>
        <p:spPr>
          <a:xfrm>
            <a:off x="9006611"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4" name="Text 12"/>
          <p:cNvSpPr txBox="1"/>
          <p:nvPr/>
        </p:nvSpPr>
        <p:spPr>
          <a:xfrm>
            <a:off x="9207779"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accent3"/>
                </a:solidFill>
                <a:latin typeface="Georgia" pitchFamily="34" charset="0"/>
                <a:ea typeface="Georgia" pitchFamily="34" charset="-122"/>
                <a:cs typeface="Georgia" pitchFamily="34" charset="-120"/>
              </a:rPr>
              <a:t>৳20–25</a:t>
            </a:r>
            <a:endParaRPr lang="en-US" sz="2600" dirty="0"/>
          </a:p>
        </p:txBody>
      </p:sp>
      <p:sp>
        <p:nvSpPr>
          <p:cNvPr id="15" name="Text 13"/>
          <p:cNvSpPr txBox="1"/>
          <p:nvPr/>
        </p:nvSpPr>
        <p:spPr>
          <a:xfrm>
            <a:off x="9207779"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all through 2025, after a big crop: storing lost money ²</a:t>
            </a:r>
            <a:endParaRPr lang="en-US" sz="1200" dirty="0"/>
          </a:p>
        </p:txBody>
      </p:sp>
      <p:sp>
        <p:nvSpPr>
          <p:cNvPr id="16" name="Trap card 1"/>
          <p:cNvSpPr/>
          <p:nvPr/>
        </p:nvSpPr>
        <p:spPr>
          <a:xfrm>
            <a:off x="548640" y="3017520"/>
            <a:ext cx="3576218" cy="20116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HandCoins tile"/>
          <p:cNvSpPr/>
          <p:nvPr/>
        </p:nvSpPr>
        <p:spPr>
          <a:xfrm>
            <a:off x="777240" y="3200400"/>
            <a:ext cx="502920" cy="502920"/>
          </a:xfrm>
          <a:prstGeom prst="rect">
            <a:avLst/>
          </a:prstGeom>
          <a:solidFill>
            <a:schemeClr val="accent1"/>
          </a:solidFill>
          <a:ln/>
          <a:effectLst>
            <a:outerShdw blurRad="88900" dist="25400" dir="5400000" algn="bl" rotWithShape="0">
              <a:srgbClr val="000000">
                <a:alpha val="18000"/>
              </a:srgbClr>
            </a:outerShdw>
          </a:effectLst>
        </p:spPr>
      </p:sp>
      <p:pic>
        <p:nvPicPr>
          <p:cNvPr id="18" name="Image 0" descr="LuHandCoins"/>
          <p:cNvPicPr>
            <a:picLocks noChangeAspect="1"/>
          </p:cNvPicPr>
          <p:nvPr/>
        </p:nvPicPr>
        <p:blipFill>
          <a:blip r:embed="rId3"/>
          <a:stretch>
            <a:fillRect/>
          </a:stretch>
        </p:blipFill>
        <p:spPr>
          <a:xfrm>
            <a:off x="887882" y="3311042"/>
            <a:ext cx="281635" cy="281635"/>
          </a:xfrm>
          <a:prstGeom prst="rect">
            <a:avLst/>
          </a:prstGeom>
        </p:spPr>
      </p:pic>
      <p:sp>
        <p:nvSpPr>
          <p:cNvPr id="19" name="Text 16"/>
          <p:cNvSpPr txBox="1"/>
          <p:nvPr/>
        </p:nvSpPr>
        <p:spPr>
          <a:xfrm>
            <a:off x="1417320" y="3200400"/>
            <a:ext cx="2524658"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cash trap</a:t>
            </a:r>
            <a:endParaRPr lang="en-US" sz="1800" dirty="0"/>
          </a:p>
        </p:txBody>
      </p:sp>
      <p:sp>
        <p:nvSpPr>
          <p:cNvPr id="20" name="Text 17"/>
          <p:cNvSpPr txBox="1"/>
          <p:nvPr/>
        </p:nvSpPr>
        <p:spPr>
          <a:xfrm>
            <a:off x="777240" y="3822192"/>
            <a:ext cx="3119018" cy="713232"/>
          </a:xfrm>
          <a:prstGeom prst="rect">
            <a:avLst/>
          </a:prstGeom>
          <a:noFill/>
          <a:ln/>
        </p:spPr>
        <p:txBody>
          <a:bodyPr wrap="square" lIns="0" tIns="0" rIns="0" bIns="0" rtlCol="0" anchor="t"/>
          <a:lstStyle/>
          <a:p>
            <a:pPr marL="0" indent="0">
              <a:buNone/>
            </a:pPr>
            <a:r>
              <a:rPr lang="en-US" sz="1300" dirty="0">
                <a:solidFill>
                  <a:schemeClr val="tx1"/>
                </a:solidFill>
              </a:rPr>
              <a:t>Loans and the trader's advance (dadon) fall due at harvest. He must sell now, at the year's lowest price.</a:t>
            </a:r>
            <a:endParaRPr lang="en-US" sz="1300" dirty="0"/>
          </a:p>
        </p:txBody>
      </p:sp>
      <p:sp>
        <p:nvSpPr>
          <p:cNvPr id="21" name="Trap figure 1"/>
          <p:cNvSpPr/>
          <p:nvPr/>
        </p:nvSpPr>
        <p:spPr>
          <a:xfrm>
            <a:off x="777240" y="4572000"/>
            <a:ext cx="3119018" cy="329184"/>
          </a:xfrm>
          <a:prstGeom prst="rect">
            <a:avLst/>
          </a:prstGeom>
          <a:solidFill>
            <a:schemeClr val="accent2">
              <a:alpha val="12000"/>
            </a:schemeClr>
          </a:solidFill>
          <a:ln/>
        </p:spPr>
      </p:sp>
      <p:sp>
        <p:nvSpPr>
          <p:cNvPr id="22" name="Text 19"/>
          <p:cNvSpPr txBox="1"/>
          <p:nvPr/>
        </p:nvSpPr>
        <p:spPr>
          <a:xfrm>
            <a:off x="896112" y="4572000"/>
            <a:ext cx="2936138" cy="329184"/>
          </a:xfrm>
          <a:prstGeom prst="rect">
            <a:avLst/>
          </a:prstGeom>
          <a:noFill/>
          <a:ln/>
        </p:spPr>
        <p:txBody>
          <a:bodyPr wrap="square" lIns="0" tIns="0" rIns="0" bIns="0" rtlCol="0" anchor="ctr"/>
          <a:lstStyle/>
          <a:p>
            <a:pPr marL="0" indent="0">
              <a:buNone/>
            </a:pPr>
            <a:r>
              <a:rPr lang="en-US" sz="1350" b="1" dirty="0">
                <a:solidFill>
                  <a:schemeClr val="accent2"/>
                </a:solidFill>
              </a:rPr>
              <a:t>Debts due on day 1</a:t>
            </a:r>
            <a:endParaRPr lang="en-US" sz="1350" dirty="0"/>
          </a:p>
        </p:txBody>
      </p:sp>
      <p:sp>
        <p:nvSpPr>
          <p:cNvPr id="23" name="Trap card 2"/>
          <p:cNvSpPr/>
          <p:nvPr/>
        </p:nvSpPr>
        <p:spPr>
          <a:xfrm>
            <a:off x="4307738" y="3017520"/>
            <a:ext cx="3576218" cy="20116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4" name="LuWarehouse tile"/>
          <p:cNvSpPr/>
          <p:nvPr/>
        </p:nvSpPr>
        <p:spPr>
          <a:xfrm>
            <a:off x="4536338" y="3200400"/>
            <a:ext cx="502920" cy="502920"/>
          </a:xfrm>
          <a:prstGeom prst="rect">
            <a:avLst/>
          </a:prstGeom>
          <a:solidFill>
            <a:schemeClr val="accent1"/>
          </a:solidFill>
          <a:ln/>
          <a:effectLst>
            <a:outerShdw blurRad="88900" dist="25400" dir="5400000" algn="bl" rotWithShape="0">
              <a:srgbClr val="000000">
                <a:alpha val="18000"/>
              </a:srgbClr>
            </a:outerShdw>
          </a:effectLst>
        </p:spPr>
      </p:sp>
      <p:pic>
        <p:nvPicPr>
          <p:cNvPr id="25" name="Image 1" descr="LuWarehouse"/>
          <p:cNvPicPr>
            <a:picLocks noChangeAspect="1"/>
          </p:cNvPicPr>
          <p:nvPr/>
        </p:nvPicPr>
        <p:blipFill>
          <a:blip r:embed="rId4"/>
          <a:stretch>
            <a:fillRect/>
          </a:stretch>
        </p:blipFill>
        <p:spPr>
          <a:xfrm>
            <a:off x="4646981" y="3311042"/>
            <a:ext cx="281635" cy="281635"/>
          </a:xfrm>
          <a:prstGeom prst="rect">
            <a:avLst/>
          </a:prstGeom>
        </p:spPr>
      </p:pic>
      <p:sp>
        <p:nvSpPr>
          <p:cNvPr id="26" name="Text 22"/>
          <p:cNvSpPr txBox="1"/>
          <p:nvPr/>
        </p:nvSpPr>
        <p:spPr>
          <a:xfrm>
            <a:off x="5176418" y="3200400"/>
            <a:ext cx="2524658"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flat-rent trap</a:t>
            </a:r>
            <a:endParaRPr lang="en-US" sz="1800" dirty="0"/>
          </a:p>
        </p:txBody>
      </p:sp>
      <p:sp>
        <p:nvSpPr>
          <p:cNvPr id="27" name="Text 23"/>
          <p:cNvSpPr txBox="1"/>
          <p:nvPr/>
        </p:nvSpPr>
        <p:spPr>
          <a:xfrm>
            <a:off x="4536338" y="3822192"/>
            <a:ext cx="3119018" cy="713232"/>
          </a:xfrm>
          <a:prstGeom prst="rect">
            <a:avLst/>
          </a:prstGeom>
          <a:noFill/>
          <a:ln/>
        </p:spPr>
        <p:txBody>
          <a:bodyPr wrap="square" lIns="0" tIns="0" rIns="0" bIns="0" rtlCol="0" anchor="t"/>
          <a:lstStyle/>
          <a:p>
            <a:pPr marL="0" indent="0">
              <a:buNone/>
            </a:pPr>
            <a:r>
              <a:rPr lang="en-US" sz="1300" dirty="0">
                <a:solidFill>
                  <a:schemeClr val="tx1"/>
                </a:solidFill>
              </a:rPr>
              <a:t>About ৳300 a sack for 1 month or 9. Afraid of a fall, he sells after 1 to 3 months, having paid for 9.</a:t>
            </a:r>
            <a:endParaRPr lang="en-US" sz="1300" dirty="0"/>
          </a:p>
        </p:txBody>
      </p:sp>
      <p:sp>
        <p:nvSpPr>
          <p:cNvPr id="28" name="Trap figure 2"/>
          <p:cNvSpPr/>
          <p:nvPr/>
        </p:nvSpPr>
        <p:spPr>
          <a:xfrm>
            <a:off x="4536338" y="4572000"/>
            <a:ext cx="3119018" cy="329184"/>
          </a:xfrm>
          <a:prstGeom prst="rect">
            <a:avLst/>
          </a:prstGeom>
          <a:solidFill>
            <a:schemeClr val="accent2">
              <a:alpha val="12000"/>
            </a:schemeClr>
          </a:solidFill>
          <a:ln/>
        </p:spPr>
      </p:sp>
      <p:sp>
        <p:nvSpPr>
          <p:cNvPr id="29" name="Text 25"/>
          <p:cNvSpPr txBox="1"/>
          <p:nvPr/>
        </p:nvSpPr>
        <p:spPr>
          <a:xfrm>
            <a:off x="4655210" y="4572000"/>
            <a:ext cx="2936138" cy="329184"/>
          </a:xfrm>
          <a:prstGeom prst="rect">
            <a:avLst/>
          </a:prstGeom>
          <a:noFill/>
          <a:ln/>
        </p:spPr>
        <p:txBody>
          <a:bodyPr wrap="square" lIns="0" tIns="0" rIns="0" bIns="0" rtlCol="0" anchor="ctr"/>
          <a:lstStyle/>
          <a:p>
            <a:pPr marL="0" indent="0">
              <a:buNone/>
            </a:pPr>
            <a:r>
              <a:rPr lang="en-US" sz="1350" b="1" dirty="0">
                <a:solidFill>
                  <a:schemeClr val="accent2"/>
                </a:solidFill>
              </a:rPr>
              <a:t>৳300 a sack, 1 month or 9</a:t>
            </a:r>
            <a:endParaRPr lang="en-US" sz="1350" dirty="0"/>
          </a:p>
        </p:txBody>
      </p:sp>
      <p:sp>
        <p:nvSpPr>
          <p:cNvPr id="30" name="Trap card 3"/>
          <p:cNvSpPr/>
          <p:nvPr/>
        </p:nvSpPr>
        <p:spPr>
          <a:xfrm>
            <a:off x="8066837" y="3017520"/>
            <a:ext cx="3576218" cy="20116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1" name="LuChartLine tile"/>
          <p:cNvSpPr/>
          <p:nvPr/>
        </p:nvSpPr>
        <p:spPr>
          <a:xfrm>
            <a:off x="8295437" y="3200400"/>
            <a:ext cx="502920" cy="502920"/>
          </a:xfrm>
          <a:prstGeom prst="rect">
            <a:avLst/>
          </a:prstGeom>
          <a:solidFill>
            <a:schemeClr val="accent1"/>
          </a:solidFill>
          <a:ln/>
          <a:effectLst>
            <a:outerShdw blurRad="88900" dist="25400" dir="5400000" algn="bl" rotWithShape="0">
              <a:srgbClr val="000000">
                <a:alpha val="18000"/>
              </a:srgbClr>
            </a:outerShdw>
          </a:effectLst>
        </p:spPr>
      </p:sp>
      <p:pic>
        <p:nvPicPr>
          <p:cNvPr id="32" name="Image 2" descr="LuChartLine"/>
          <p:cNvPicPr>
            <a:picLocks noChangeAspect="1"/>
          </p:cNvPicPr>
          <p:nvPr/>
        </p:nvPicPr>
        <p:blipFill>
          <a:blip r:embed="rId5"/>
          <a:stretch>
            <a:fillRect/>
          </a:stretch>
        </p:blipFill>
        <p:spPr>
          <a:xfrm>
            <a:off x="8406079" y="3311042"/>
            <a:ext cx="281635" cy="281635"/>
          </a:xfrm>
          <a:prstGeom prst="rect">
            <a:avLst/>
          </a:prstGeom>
        </p:spPr>
      </p:pic>
      <p:sp>
        <p:nvSpPr>
          <p:cNvPr id="33" name="Text 28"/>
          <p:cNvSpPr txBox="1"/>
          <p:nvPr/>
        </p:nvSpPr>
        <p:spPr>
          <a:xfrm>
            <a:off x="8935517" y="3200400"/>
            <a:ext cx="2524658"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blind-bet trap</a:t>
            </a:r>
            <a:endParaRPr lang="en-US" sz="1800" dirty="0"/>
          </a:p>
        </p:txBody>
      </p:sp>
      <p:sp>
        <p:nvSpPr>
          <p:cNvPr id="34" name="Text 29"/>
          <p:cNvSpPr txBox="1"/>
          <p:nvPr/>
        </p:nvSpPr>
        <p:spPr>
          <a:xfrm>
            <a:off x="8295437" y="3822192"/>
            <a:ext cx="3119018" cy="713232"/>
          </a:xfrm>
          <a:prstGeom prst="rect">
            <a:avLst/>
          </a:prstGeom>
          <a:noFill/>
          <a:ln/>
        </p:spPr>
        <p:txBody>
          <a:bodyPr wrap="square" lIns="0" tIns="0" rIns="0" bIns="0" rtlCol="0" anchor="t"/>
          <a:lstStyle/>
          <a:p>
            <a:pPr marL="0" indent="0">
              <a:buNone/>
            </a:pPr>
            <a:r>
              <a:rPr lang="en-US" sz="1300" dirty="0">
                <a:solidFill>
                  <a:schemeClr val="tx1"/>
                </a:solidFill>
              </a:rPr>
              <a:t>Crop size sets the price: 2024 doubled, 2025 stayed flat. Nobody tells him which kind of year it is.</a:t>
            </a:r>
            <a:endParaRPr lang="en-US" sz="1300" dirty="0"/>
          </a:p>
        </p:txBody>
      </p:sp>
      <p:sp>
        <p:nvSpPr>
          <p:cNvPr id="35" name="Trap figure 3"/>
          <p:cNvSpPr/>
          <p:nvPr/>
        </p:nvSpPr>
        <p:spPr>
          <a:xfrm>
            <a:off x="8295437" y="4572000"/>
            <a:ext cx="3119018" cy="329184"/>
          </a:xfrm>
          <a:prstGeom prst="rect">
            <a:avLst/>
          </a:prstGeom>
          <a:solidFill>
            <a:schemeClr val="accent3">
              <a:alpha val="12000"/>
            </a:schemeClr>
          </a:solidFill>
          <a:ln/>
        </p:spPr>
      </p:sp>
      <p:sp>
        <p:nvSpPr>
          <p:cNvPr id="36" name="Text 31"/>
          <p:cNvSpPr txBox="1"/>
          <p:nvPr/>
        </p:nvSpPr>
        <p:spPr>
          <a:xfrm>
            <a:off x="8414309" y="4572000"/>
            <a:ext cx="2936138" cy="329184"/>
          </a:xfrm>
          <a:prstGeom prst="rect">
            <a:avLst/>
          </a:prstGeom>
          <a:noFill/>
          <a:ln/>
        </p:spPr>
        <p:txBody>
          <a:bodyPr wrap="square" lIns="0" tIns="0" rIns="0" bIns="0" rtlCol="0" anchor="ctr"/>
          <a:lstStyle/>
          <a:p>
            <a:pPr marL="0" indent="0">
              <a:buNone/>
            </a:pPr>
            <a:r>
              <a:rPr lang="en-US" sz="1350" b="1" dirty="0">
                <a:solidFill>
                  <a:schemeClr val="accent3"/>
                </a:solidFill>
              </a:rPr>
              <a:t>−৳25,280 storing 36 sacks in 2025</a:t>
            </a:r>
            <a:endParaRPr lang="en-US" sz="1350" dirty="0"/>
          </a:p>
        </p:txBody>
      </p:sp>
      <p:sp>
        <p:nvSpPr>
          <p:cNvPr id="37" name="Insight band"/>
          <p:cNvSpPr/>
          <p:nvPr/>
        </p:nvSpPr>
        <p:spPr>
          <a:xfrm>
            <a:off x="548640" y="5212080"/>
            <a:ext cx="11094415" cy="731520"/>
          </a:xfrm>
          <a:prstGeom prst="rect">
            <a:avLst/>
          </a:prstGeom>
          <a:solidFill>
            <a:schemeClr val="tx2"/>
          </a:solidFill>
          <a:ln/>
          <a:effectLst>
            <a:outerShdw blurRad="88900" dist="25400" dir="5400000" algn="bl" rotWithShape="0">
              <a:srgbClr val="000000">
                <a:alpha val="14000"/>
              </a:srgbClr>
            </a:outerShdw>
          </a:effectLst>
        </p:spPr>
      </p:sp>
      <p:sp>
        <p:nvSpPr>
          <p:cNvPr id="38" name="Text 33"/>
          <p:cNvSpPr txBox="1"/>
          <p:nvPr/>
        </p:nvSpPr>
        <p:spPr>
          <a:xfrm>
            <a:off x="822960" y="5212080"/>
            <a:ext cx="10545775" cy="731520"/>
          </a:xfrm>
          <a:prstGeom prst="rect">
            <a:avLst/>
          </a:prstGeom>
          <a:noFill/>
          <a:ln/>
        </p:spPr>
        <p:txBody>
          <a:bodyPr wrap="square" lIns="0" tIns="0" rIns="0" bIns="0" rtlCol="0" anchor="ctr"/>
          <a:lstStyle/>
          <a:p>
            <a:pPr marL="0" indent="0">
              <a:buNone/>
            </a:pPr>
            <a:r>
              <a:rPr lang="en-US" sz="1600" b="1" dirty="0">
                <a:solidFill>
                  <a:schemeClr val="accent1"/>
                </a:solidFill>
              </a:rPr>
              <a:t>A price alert does not pay today's debt. </a:t>
            </a:r>
            <a:r>
              <a:rPr lang="en-US" sz="1600" dirty="0">
                <a:solidFill>
                  <a:schemeClr val="bg1"/>
                </a:solidFill>
              </a:rPr>
              <a:t>Traders have the cash, the sums and the information to wait. The farmer has none.</a:t>
            </a:r>
            <a:endParaRPr lang="en-US" sz="1600" dirty="0"/>
          </a:p>
        </p:txBody>
      </p:sp>
      <p:sp>
        <p:nvSpPr>
          <p:cNvPr id="39" name="Text 34"/>
          <p:cNvSpPr txBox="1"/>
          <p:nvPr/>
        </p:nvSpPr>
        <p:spPr>
          <a:xfrm>
            <a:off x="548640" y="6035040"/>
            <a:ext cx="11094415" cy="237744"/>
          </a:xfrm>
          <a:prstGeom prst="rect">
            <a:avLst/>
          </a:prstGeom>
          <a:noFill/>
          <a:ln/>
        </p:spPr>
        <p:txBody>
          <a:bodyPr wrap="square" lIns="0" tIns="0" rIns="0" bIns="0" rtlCol="0" anchor="t"/>
          <a:lstStyle/>
          <a:p>
            <a:pPr marL="0" indent="0">
              <a:buNone/>
            </a:pPr>
            <a:r>
              <a:rPr lang="en-US" sz="1000" dirty="0">
                <a:solidFill>
                  <a:schemeClr val="accent6"/>
                </a:solidFill>
              </a:rPr>
              <a:t>¹ Value-chain study, Kahaloo (Bogura) and Munshiganj, 2016 fieldwork.   ² WFP retail prices (HDX); the 2025 loss is our engine's replay. Production: BBS 2024-25.</a:t>
            </a:r>
            <a:endParaRPr lang="en-US" sz="1000" dirty="0"/>
          </a:p>
        </p:txBody>
      </p:sp>
      <p:sp>
        <p:nvSpPr>
          <p:cNvPr id="4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WHAT KRISHIVAULT IS  ·  KNOW · CALCULATE · DECIDE · ACT</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One service that answers each trap</a:t>
            </a:r>
            <a:endParaRPr lang="en-US" sz="3000" dirty="0"/>
          </a:p>
        </p:txBody>
      </p:sp>
      <p:sp>
        <p:nvSpPr>
          <p:cNvPr id="4" name="Definition band"/>
          <p:cNvSpPr/>
          <p:nvPr/>
        </p:nvSpPr>
        <p:spPr>
          <a:xfrm>
            <a:off x="548640" y="1600200"/>
            <a:ext cx="11094415" cy="960120"/>
          </a:xfrm>
          <a:prstGeom prst="rect">
            <a:avLst/>
          </a:prstGeom>
          <a:solidFill>
            <a:schemeClr val="tx2"/>
          </a:solidFill>
          <a:ln/>
          <a:effectLst>
            <a:outerShdw blurRad="88900" dist="25400" dir="5400000" algn="bl" rotWithShape="0">
              <a:srgbClr val="000000">
                <a:alpha val="14000"/>
              </a:srgbClr>
            </a:outerShdw>
          </a:effectLst>
        </p:spPr>
      </p:sp>
      <p:sp>
        <p:nvSpPr>
          <p:cNvPr id="5" name="Text 3"/>
          <p:cNvSpPr txBox="1"/>
          <p:nvPr/>
        </p:nvSpPr>
        <p:spPr>
          <a:xfrm>
            <a:off x="868680" y="1600200"/>
            <a:ext cx="10454335" cy="960120"/>
          </a:xfrm>
          <a:prstGeom prst="rect">
            <a:avLst/>
          </a:prstGeom>
          <a:noFill/>
          <a:ln/>
        </p:spPr>
        <p:txBody>
          <a:bodyPr wrap="square" lIns="0" tIns="0" rIns="0" bIns="0" rtlCol="0" anchor="ctr"/>
          <a:lstStyle/>
          <a:p>
            <a:pPr marL="0" indent="0">
              <a:buNone/>
            </a:pPr>
            <a:r>
              <a:rPr lang="en-US" sz="1700" b="1" dirty="0">
                <a:solidFill>
                  <a:schemeClr val="accent1"/>
                </a:solidFill>
                <a:latin typeface="Georgia" pitchFamily="34" charset="0"/>
                <a:ea typeface="Georgia" pitchFamily="34" charset="-122"/>
                <a:cs typeface="Georgia" pitchFamily="34" charset="-120"/>
              </a:rPr>
              <a:t>KrishiVault is a voice-first service for potato farmers. </a:t>
            </a:r>
            <a:r>
              <a:rPr lang="en-US" sz="1700" b="1" dirty="0">
                <a:solidFill>
                  <a:schemeClr val="bg1"/>
                </a:solidFill>
                <a:latin typeface="Georgia" pitchFamily="34" charset="0"/>
                <a:ea typeface="Georgia" pitchFamily="34" charset="-122"/>
                <a:cs typeface="Georgia" pitchFamily="34" charset="-120"/>
              </a:rPr>
              <a:t>It tells him how many sacks to sell now and how many to store, until when, and lets a bank lend against the stored sacks, so he can afford to wait.</a:t>
            </a:r>
            <a:endParaRPr lang="en-US" sz="1700" dirty="0"/>
          </a:p>
        </p:txBody>
      </p:sp>
      <p:sp>
        <p:nvSpPr>
          <p:cNvPr id="6" name="Text 4"/>
          <p:cNvSpPr txBox="1"/>
          <p:nvPr/>
        </p:nvSpPr>
        <p:spPr>
          <a:xfrm>
            <a:off x="548640" y="2724912"/>
            <a:ext cx="2514600" cy="237744"/>
          </a:xfrm>
          <a:prstGeom prst="rect">
            <a:avLst/>
          </a:prstGeom>
          <a:noFill/>
          <a:ln/>
        </p:spPr>
        <p:txBody>
          <a:bodyPr wrap="square" lIns="0" tIns="0" rIns="0" bIns="0" rtlCol="0" anchor="t"/>
          <a:lstStyle/>
          <a:p>
            <a:pPr marL="0" indent="0">
              <a:buNone/>
            </a:pPr>
            <a:r>
              <a:rPr lang="en-US" sz="1150" b="1" kern="0" spc="200" dirty="0">
                <a:solidFill>
                  <a:schemeClr val="accent3"/>
                </a:solidFill>
              </a:rPr>
              <a:t>THE TRAP</a:t>
            </a:r>
            <a:endParaRPr lang="en-US" sz="1150" dirty="0"/>
          </a:p>
        </p:txBody>
      </p:sp>
      <p:sp>
        <p:nvSpPr>
          <p:cNvPr id="7" name="Text 5"/>
          <p:cNvSpPr txBox="1"/>
          <p:nvPr/>
        </p:nvSpPr>
        <p:spPr>
          <a:xfrm>
            <a:off x="3474720" y="2724912"/>
            <a:ext cx="4251960" cy="237744"/>
          </a:xfrm>
          <a:prstGeom prst="rect">
            <a:avLst/>
          </a:prstGeom>
          <a:noFill/>
          <a:ln/>
        </p:spPr>
        <p:txBody>
          <a:bodyPr wrap="square" lIns="0" tIns="0" rIns="0" bIns="0" rtlCol="0" anchor="t"/>
          <a:lstStyle/>
          <a:p>
            <a:pPr marL="0" indent="0">
              <a:buNone/>
            </a:pPr>
            <a:r>
              <a:rPr lang="en-US" sz="1150" b="1" kern="0" spc="200" dirty="0">
                <a:solidFill>
                  <a:schemeClr val="accent2"/>
                </a:solidFill>
              </a:rPr>
              <a:t>KRISHIVAULT'S ANSWER</a:t>
            </a:r>
            <a:endParaRPr lang="en-US" sz="1150" dirty="0"/>
          </a:p>
        </p:txBody>
      </p:sp>
      <p:sp>
        <p:nvSpPr>
          <p:cNvPr id="8" name="Trap 1"/>
          <p:cNvSpPr/>
          <p:nvPr/>
        </p:nvSpPr>
        <p:spPr>
          <a:xfrm>
            <a:off x="548640" y="3035808"/>
            <a:ext cx="2514600" cy="676656"/>
          </a:xfrm>
          <a:prstGeom prst="rect">
            <a:avLst/>
          </a:prstGeom>
          <a:solidFill>
            <a:schemeClr val="accent3">
              <a:alpha val="10000"/>
            </a:schemeClr>
          </a:solidFill>
          <a:ln/>
        </p:spPr>
      </p:sp>
      <p:sp>
        <p:nvSpPr>
          <p:cNvPr id="9" name="Text 7"/>
          <p:cNvSpPr txBox="1"/>
          <p:nvPr/>
        </p:nvSpPr>
        <p:spPr>
          <a:xfrm>
            <a:off x="731520" y="3035808"/>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The cash trap</a:t>
            </a:r>
            <a:endParaRPr lang="en-US" sz="1300" dirty="0"/>
          </a:p>
          <a:p>
            <a:pPr marL="0" indent="0">
              <a:buNone/>
            </a:pPr>
            <a:r>
              <a:rPr lang="en-US" sz="1300" dirty="0">
                <a:solidFill>
                  <a:schemeClr val="tx1"/>
                </a:solidFill>
              </a:rPr>
              <a:t>Debts fall due at harvest</a:t>
            </a:r>
            <a:endParaRPr lang="en-US" sz="1300" dirty="0"/>
          </a:p>
        </p:txBody>
      </p:sp>
      <p:pic>
        <p:nvPicPr>
          <p:cNvPr id="10" name="Image 0" descr="answered by"/>
          <p:cNvPicPr>
            <a:picLocks noChangeAspect="1"/>
          </p:cNvPicPr>
          <p:nvPr/>
        </p:nvPicPr>
        <p:blipFill>
          <a:blip r:embed="rId3"/>
          <a:stretch>
            <a:fillRect/>
          </a:stretch>
        </p:blipFill>
        <p:spPr>
          <a:xfrm>
            <a:off x="3150108" y="3255264"/>
            <a:ext cx="237744" cy="237744"/>
          </a:xfrm>
          <a:prstGeom prst="rect">
            <a:avLst/>
          </a:prstGeom>
        </p:spPr>
      </p:pic>
      <p:sp>
        <p:nvSpPr>
          <p:cNvPr id="11" name="Answer 1"/>
          <p:cNvSpPr/>
          <p:nvPr/>
        </p:nvSpPr>
        <p:spPr>
          <a:xfrm>
            <a:off x="3474720" y="3035808"/>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12" name="Text 9"/>
          <p:cNvSpPr txBox="1"/>
          <p:nvPr/>
        </p:nvSpPr>
        <p:spPr>
          <a:xfrm>
            <a:off x="3657600" y="3035808"/>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Cash without selling</a:t>
            </a:r>
            <a:endParaRPr lang="en-US" sz="1300" dirty="0"/>
          </a:p>
          <a:p>
            <a:pPr marL="0" indent="0">
              <a:buNone/>
            </a:pPr>
            <a:r>
              <a:rPr lang="en-US" sz="1300" dirty="0">
                <a:solidFill>
                  <a:schemeClr val="tx1"/>
                </a:solidFill>
              </a:rPr>
              <a:t>A bank lends against a digital cold-storage receipt in his name.</a:t>
            </a:r>
            <a:endParaRPr lang="en-US" sz="1300" dirty="0"/>
          </a:p>
        </p:txBody>
      </p:sp>
      <p:sp>
        <p:nvSpPr>
          <p:cNvPr id="13" name="Trap 2"/>
          <p:cNvSpPr/>
          <p:nvPr/>
        </p:nvSpPr>
        <p:spPr>
          <a:xfrm>
            <a:off x="548640" y="3803904"/>
            <a:ext cx="2514600" cy="676656"/>
          </a:xfrm>
          <a:prstGeom prst="rect">
            <a:avLst/>
          </a:prstGeom>
          <a:solidFill>
            <a:schemeClr val="accent3">
              <a:alpha val="10000"/>
            </a:schemeClr>
          </a:solidFill>
          <a:ln/>
        </p:spPr>
      </p:sp>
      <p:sp>
        <p:nvSpPr>
          <p:cNvPr id="14" name="Text 11"/>
          <p:cNvSpPr txBox="1"/>
          <p:nvPr/>
        </p:nvSpPr>
        <p:spPr>
          <a:xfrm>
            <a:off x="731520" y="3803904"/>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The flat-rent trap</a:t>
            </a:r>
            <a:endParaRPr lang="en-US" sz="1300" dirty="0"/>
          </a:p>
          <a:p>
            <a:pPr marL="0" indent="0">
              <a:buNone/>
            </a:pPr>
            <a:r>
              <a:rPr lang="en-US" sz="1300" dirty="0">
                <a:solidFill>
                  <a:schemeClr val="tx1"/>
                </a:solidFill>
              </a:rPr>
              <a:t>Pays for 9 months, sells in 2</a:t>
            </a:r>
            <a:endParaRPr lang="en-US" sz="1300" dirty="0"/>
          </a:p>
        </p:txBody>
      </p:sp>
      <p:pic>
        <p:nvPicPr>
          <p:cNvPr id="15" name="Image 1" descr="answered by"/>
          <p:cNvPicPr>
            <a:picLocks noChangeAspect="1"/>
          </p:cNvPicPr>
          <p:nvPr/>
        </p:nvPicPr>
        <p:blipFill>
          <a:blip r:embed="rId3"/>
          <a:stretch>
            <a:fillRect/>
          </a:stretch>
        </p:blipFill>
        <p:spPr>
          <a:xfrm>
            <a:off x="3150108" y="4023360"/>
            <a:ext cx="237744" cy="237744"/>
          </a:xfrm>
          <a:prstGeom prst="rect">
            <a:avLst/>
          </a:prstGeom>
        </p:spPr>
      </p:pic>
      <p:sp>
        <p:nvSpPr>
          <p:cNvPr id="16" name="Answer 2"/>
          <p:cNvSpPr/>
          <p:nvPr/>
        </p:nvSpPr>
        <p:spPr>
          <a:xfrm>
            <a:off x="3474720" y="3803904"/>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17" name="Text 13"/>
          <p:cNvSpPr txBox="1"/>
          <p:nvPr/>
        </p:nvSpPr>
        <p:spPr>
          <a:xfrm>
            <a:off x="3657600" y="3803904"/>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The sums, sack by sack</a:t>
            </a:r>
            <a:endParaRPr lang="en-US" sz="1300" dirty="0"/>
          </a:p>
          <a:p>
            <a:pPr marL="0" indent="0">
              <a:buNone/>
            </a:pPr>
            <a:r>
              <a:rPr lang="en-US" sz="1300" dirty="0">
                <a:solidFill>
                  <a:schemeClr val="tx1"/>
                </a:solidFill>
              </a:rPr>
              <a:t>Sell how many now, store how many, until when: after rent, 8.65% loss and interest.</a:t>
            </a:r>
            <a:endParaRPr lang="en-US" sz="1300" dirty="0"/>
          </a:p>
        </p:txBody>
      </p:sp>
      <p:sp>
        <p:nvSpPr>
          <p:cNvPr id="18" name="Trap 3"/>
          <p:cNvSpPr/>
          <p:nvPr/>
        </p:nvSpPr>
        <p:spPr>
          <a:xfrm>
            <a:off x="548640" y="4572000"/>
            <a:ext cx="2514600" cy="676656"/>
          </a:xfrm>
          <a:prstGeom prst="rect">
            <a:avLst/>
          </a:prstGeom>
          <a:solidFill>
            <a:schemeClr val="accent3">
              <a:alpha val="10000"/>
            </a:schemeClr>
          </a:solidFill>
          <a:ln/>
        </p:spPr>
      </p:sp>
      <p:sp>
        <p:nvSpPr>
          <p:cNvPr id="19" name="Text 15"/>
          <p:cNvSpPr txBox="1"/>
          <p:nvPr/>
        </p:nvSpPr>
        <p:spPr>
          <a:xfrm>
            <a:off x="731520" y="4572000"/>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The blind-bet trap</a:t>
            </a:r>
            <a:endParaRPr lang="en-US" sz="1300" dirty="0"/>
          </a:p>
          <a:p>
            <a:pPr marL="0" indent="0">
              <a:buNone/>
            </a:pPr>
            <a:r>
              <a:rPr lang="en-US" sz="1300" dirty="0">
                <a:solidFill>
                  <a:schemeClr val="tx1"/>
                </a:solidFill>
              </a:rPr>
              <a:t>Can't tell a 2024 from a 2025</a:t>
            </a:r>
            <a:endParaRPr lang="en-US" sz="1300" dirty="0"/>
          </a:p>
        </p:txBody>
      </p:sp>
      <p:pic>
        <p:nvPicPr>
          <p:cNvPr id="20" name="Image 2" descr="answered by"/>
          <p:cNvPicPr>
            <a:picLocks noChangeAspect="1"/>
          </p:cNvPicPr>
          <p:nvPr/>
        </p:nvPicPr>
        <p:blipFill>
          <a:blip r:embed="rId3"/>
          <a:stretch>
            <a:fillRect/>
          </a:stretch>
        </p:blipFill>
        <p:spPr>
          <a:xfrm>
            <a:off x="3150108" y="4791456"/>
            <a:ext cx="237744" cy="237744"/>
          </a:xfrm>
          <a:prstGeom prst="rect">
            <a:avLst/>
          </a:prstGeom>
        </p:spPr>
      </p:pic>
      <p:sp>
        <p:nvSpPr>
          <p:cNvPr id="21" name="Answer 3"/>
          <p:cNvSpPr/>
          <p:nvPr/>
        </p:nvSpPr>
        <p:spPr>
          <a:xfrm>
            <a:off x="3474720" y="4572000"/>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22" name="Text 17"/>
          <p:cNvSpPr txBox="1"/>
          <p:nvPr/>
        </p:nvSpPr>
        <p:spPr>
          <a:xfrm>
            <a:off x="3657600" y="4572000"/>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An outlook with a range</a:t>
            </a:r>
            <a:endParaRPr lang="en-US" sz="1300" dirty="0"/>
          </a:p>
          <a:p>
            <a:pPr marL="0" indent="0">
              <a:buNone/>
            </a:pPr>
            <a:r>
              <a:rPr lang="en-US" sz="1300" dirty="0">
                <a:solidFill>
                  <a:schemeClr val="tx1"/>
                </a:solidFill>
              </a:rPr>
              <a:t>Driven by crop size; in a glut year it says "sell now".</a:t>
            </a:r>
            <a:endParaRPr lang="en-US" sz="1300" dirty="0"/>
          </a:p>
        </p:txBody>
      </p:sp>
      <p:sp>
        <p:nvSpPr>
          <p:cNvPr id="23" name="Trap 4"/>
          <p:cNvSpPr/>
          <p:nvPr/>
        </p:nvSpPr>
        <p:spPr>
          <a:xfrm>
            <a:off x="548640" y="5340096"/>
            <a:ext cx="2514600" cy="676656"/>
          </a:xfrm>
          <a:prstGeom prst="rect">
            <a:avLst/>
          </a:prstGeom>
          <a:solidFill>
            <a:schemeClr val="accent3">
              <a:alpha val="10000"/>
            </a:schemeClr>
          </a:solidFill>
          <a:ln/>
        </p:spPr>
      </p:sp>
      <p:sp>
        <p:nvSpPr>
          <p:cNvPr id="24" name="Text 19"/>
          <p:cNvSpPr txBox="1"/>
          <p:nvPr/>
        </p:nvSpPr>
        <p:spPr>
          <a:xfrm>
            <a:off x="731520" y="5340096"/>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He can't read an SMS</a:t>
            </a:r>
            <a:endParaRPr lang="en-US" sz="1300" dirty="0"/>
          </a:p>
          <a:p>
            <a:pPr marL="0" indent="0">
              <a:buNone/>
            </a:pPr>
            <a:r>
              <a:rPr lang="en-US" sz="1300" dirty="0">
                <a:solidFill>
                  <a:schemeClr val="tx1"/>
                </a:solidFill>
              </a:rPr>
              <a:t>From our field interview</a:t>
            </a:r>
            <a:endParaRPr lang="en-US" sz="1300" dirty="0"/>
          </a:p>
        </p:txBody>
      </p:sp>
      <p:pic>
        <p:nvPicPr>
          <p:cNvPr id="25" name="Image 3" descr="answered by"/>
          <p:cNvPicPr>
            <a:picLocks noChangeAspect="1"/>
          </p:cNvPicPr>
          <p:nvPr/>
        </p:nvPicPr>
        <p:blipFill>
          <a:blip r:embed="rId3"/>
          <a:stretch>
            <a:fillRect/>
          </a:stretch>
        </p:blipFill>
        <p:spPr>
          <a:xfrm>
            <a:off x="3150108" y="5559552"/>
            <a:ext cx="237744" cy="237744"/>
          </a:xfrm>
          <a:prstGeom prst="rect">
            <a:avLst/>
          </a:prstGeom>
        </p:spPr>
      </p:pic>
      <p:sp>
        <p:nvSpPr>
          <p:cNvPr id="26" name="Answer 4"/>
          <p:cNvSpPr/>
          <p:nvPr/>
        </p:nvSpPr>
        <p:spPr>
          <a:xfrm>
            <a:off x="3474720" y="5340096"/>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27" name="Text 21"/>
          <p:cNvSpPr txBox="1"/>
          <p:nvPr/>
        </p:nvSpPr>
        <p:spPr>
          <a:xfrm>
            <a:off x="3657600" y="5340096"/>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A Bangla voice call</a:t>
            </a:r>
            <a:endParaRPr lang="en-US" sz="1300" dirty="0"/>
          </a:p>
          <a:p>
            <a:pPr marL="0" indent="0">
              <a:buNone/>
            </a:pPr>
            <a:r>
              <a:rPr lang="en-US" sz="1300" dirty="0">
                <a:solidFill>
                  <a:schemeClr val="tx1"/>
                </a:solidFill>
              </a:rPr>
              <a:t>Two numbers on any button phone; USSD and SMS as well.</a:t>
            </a:r>
            <a:endParaRPr lang="en-US" sz="1300" dirty="0"/>
          </a:p>
        </p:txBody>
      </p:sp>
      <p:sp>
        <p:nvSpPr>
          <p:cNvPr id="28" name="Facts card"/>
          <p:cNvSpPr/>
          <p:nvPr/>
        </p:nvSpPr>
        <p:spPr>
          <a:xfrm>
            <a:off x="8001000" y="2743200"/>
            <a:ext cx="3642055" cy="3273552"/>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9" name="Text 23"/>
          <p:cNvSpPr txBox="1"/>
          <p:nvPr/>
        </p:nvSpPr>
        <p:spPr>
          <a:xfrm>
            <a:off x="8229600" y="2889504"/>
            <a:ext cx="3230575" cy="219456"/>
          </a:xfrm>
          <a:prstGeom prst="rect">
            <a:avLst/>
          </a:prstGeom>
          <a:noFill/>
          <a:ln/>
        </p:spPr>
        <p:txBody>
          <a:bodyPr wrap="square" lIns="0" tIns="0" rIns="0" bIns="0" rtlCol="0" anchor="t"/>
          <a:lstStyle/>
          <a:p>
            <a:pPr marL="0" indent="0">
              <a:buNone/>
            </a:pPr>
            <a:r>
              <a:rPr lang="en-US" sz="1100" b="1" kern="0" spc="200" dirty="0">
                <a:solidFill>
                  <a:schemeClr val="accent2"/>
                </a:solidFill>
              </a:rPr>
              <a:t>FOR</a:t>
            </a:r>
            <a:endParaRPr lang="en-US" sz="1100" dirty="0"/>
          </a:p>
        </p:txBody>
      </p:sp>
      <p:sp>
        <p:nvSpPr>
          <p:cNvPr id="30" name="Text 24"/>
          <p:cNvSpPr txBox="1"/>
          <p:nvPr/>
        </p:nvSpPr>
        <p:spPr>
          <a:xfrm>
            <a:off x="8229600" y="3118104"/>
            <a:ext cx="3230575" cy="530352"/>
          </a:xfrm>
          <a:prstGeom prst="rect">
            <a:avLst/>
          </a:prstGeom>
          <a:noFill/>
          <a:ln/>
        </p:spPr>
        <p:txBody>
          <a:bodyPr wrap="square" lIns="0" tIns="0" rIns="0" bIns="0" rtlCol="0" anchor="t"/>
          <a:lstStyle/>
          <a:p>
            <a:pPr marL="0" indent="0">
              <a:buNone/>
            </a:pPr>
            <a:r>
              <a:rPr lang="en-US" sz="1300" dirty="0">
                <a:solidFill>
                  <a:schemeClr val="tx1"/>
                </a:solidFill>
              </a:rPr>
              <a:t>Smallholder potato farmers. First in Kahaloo, Bogura.</a:t>
            </a:r>
            <a:endParaRPr lang="en-US" sz="1300" dirty="0"/>
          </a:p>
        </p:txBody>
      </p:sp>
      <p:sp>
        <p:nvSpPr>
          <p:cNvPr id="31" name="Text 25"/>
          <p:cNvSpPr txBox="1"/>
          <p:nvPr/>
        </p:nvSpPr>
        <p:spPr>
          <a:xfrm>
            <a:off x="8229600" y="3648456"/>
            <a:ext cx="3230575" cy="219456"/>
          </a:xfrm>
          <a:prstGeom prst="rect">
            <a:avLst/>
          </a:prstGeom>
          <a:noFill/>
          <a:ln/>
        </p:spPr>
        <p:txBody>
          <a:bodyPr wrap="square" lIns="0" tIns="0" rIns="0" bIns="0" rtlCol="0" anchor="t"/>
          <a:lstStyle/>
          <a:p>
            <a:pPr marL="0" indent="0">
              <a:buNone/>
            </a:pPr>
            <a:r>
              <a:rPr lang="en-US" sz="1100" b="1" kern="0" spc="200" dirty="0">
                <a:solidFill>
                  <a:schemeClr val="accent2"/>
                </a:solidFill>
              </a:rPr>
              <a:t>THROUGH</a:t>
            </a:r>
            <a:endParaRPr lang="en-US" sz="1100" dirty="0"/>
          </a:p>
        </p:txBody>
      </p:sp>
      <p:sp>
        <p:nvSpPr>
          <p:cNvPr id="32" name="Text 26"/>
          <p:cNvSpPr txBox="1"/>
          <p:nvPr/>
        </p:nvSpPr>
        <p:spPr>
          <a:xfrm>
            <a:off x="8229600" y="3877056"/>
            <a:ext cx="3230575" cy="530352"/>
          </a:xfrm>
          <a:prstGeom prst="rect">
            <a:avLst/>
          </a:prstGeom>
          <a:noFill/>
          <a:ln/>
        </p:spPr>
        <p:txBody>
          <a:bodyPr wrap="square" lIns="0" tIns="0" rIns="0" bIns="0" rtlCol="0" anchor="t"/>
          <a:lstStyle/>
          <a:p>
            <a:pPr marL="0" indent="0">
              <a:buNone/>
            </a:pPr>
            <a:r>
              <a:rPr lang="en-US" sz="1300" dirty="0">
                <a:solidFill>
                  <a:schemeClr val="tx1"/>
                </a:solidFill>
              </a:rPr>
              <a:t>Grameenphone voice line, USSD and SMS. Cold storages and banks use the web.</a:t>
            </a:r>
            <a:endParaRPr lang="en-US" sz="1300" dirty="0"/>
          </a:p>
        </p:txBody>
      </p:sp>
      <p:sp>
        <p:nvSpPr>
          <p:cNvPr id="33" name="Text 27"/>
          <p:cNvSpPr txBox="1"/>
          <p:nvPr/>
        </p:nvSpPr>
        <p:spPr>
          <a:xfrm>
            <a:off x="8229600" y="4407408"/>
            <a:ext cx="3230575" cy="219456"/>
          </a:xfrm>
          <a:prstGeom prst="rect">
            <a:avLst/>
          </a:prstGeom>
          <a:noFill/>
          <a:ln/>
        </p:spPr>
        <p:txBody>
          <a:bodyPr wrap="square" lIns="0" tIns="0" rIns="0" bIns="0" rtlCol="0" anchor="t"/>
          <a:lstStyle/>
          <a:p>
            <a:pPr marL="0" indent="0">
              <a:buNone/>
            </a:pPr>
            <a:r>
              <a:rPr lang="en-US" sz="1100" b="1" kern="0" spc="200" dirty="0">
                <a:solidFill>
                  <a:schemeClr val="accent2"/>
                </a:solidFill>
              </a:rPr>
              <a:t>PAID BY</a:t>
            </a:r>
            <a:endParaRPr lang="en-US" sz="1100" dirty="0"/>
          </a:p>
        </p:txBody>
      </p:sp>
      <p:sp>
        <p:nvSpPr>
          <p:cNvPr id="34" name="Text 28"/>
          <p:cNvSpPr txBox="1"/>
          <p:nvPr/>
        </p:nvSpPr>
        <p:spPr>
          <a:xfrm>
            <a:off x="8229600" y="4636008"/>
            <a:ext cx="3230575" cy="530352"/>
          </a:xfrm>
          <a:prstGeom prst="rect">
            <a:avLst/>
          </a:prstGeom>
          <a:noFill/>
          <a:ln/>
        </p:spPr>
        <p:txBody>
          <a:bodyPr wrap="square" lIns="0" tIns="0" rIns="0" bIns="0" rtlCol="0" anchor="t"/>
          <a:lstStyle/>
          <a:p>
            <a:pPr marL="0" indent="0">
              <a:buNone/>
            </a:pPr>
            <a:r>
              <a:rPr lang="en-US" sz="1300" dirty="0">
                <a:solidFill>
                  <a:schemeClr val="tx1"/>
                </a:solidFill>
              </a:rPr>
              <a:t>Cold storages, banks and buyers. Never the farmer.</a:t>
            </a:r>
            <a:endParaRPr lang="en-US" sz="1300" dirty="0"/>
          </a:p>
        </p:txBody>
      </p:sp>
      <p:sp>
        <p:nvSpPr>
          <p:cNvPr id="35" name="Text 29"/>
          <p:cNvSpPr txBox="1"/>
          <p:nvPr/>
        </p:nvSpPr>
        <p:spPr>
          <a:xfrm>
            <a:off x="8229600" y="5166360"/>
            <a:ext cx="3230575" cy="219456"/>
          </a:xfrm>
          <a:prstGeom prst="rect">
            <a:avLst/>
          </a:prstGeom>
          <a:noFill/>
          <a:ln/>
        </p:spPr>
        <p:txBody>
          <a:bodyPr wrap="square" lIns="0" tIns="0" rIns="0" bIns="0" rtlCol="0" anchor="t"/>
          <a:lstStyle/>
          <a:p>
            <a:pPr marL="0" indent="0">
              <a:buNone/>
            </a:pPr>
            <a:r>
              <a:rPr lang="en-US" sz="1100" b="1" kern="0" spc="200" dirty="0">
                <a:solidFill>
                  <a:schemeClr val="accent3"/>
                </a:solidFill>
              </a:rPr>
              <a:t>NEVER</a:t>
            </a:r>
            <a:endParaRPr lang="en-US" sz="1100" dirty="0"/>
          </a:p>
        </p:txBody>
      </p:sp>
      <p:sp>
        <p:nvSpPr>
          <p:cNvPr id="36" name="Text 30"/>
          <p:cNvSpPr txBox="1"/>
          <p:nvPr/>
        </p:nvSpPr>
        <p:spPr>
          <a:xfrm>
            <a:off x="8229600" y="5394960"/>
            <a:ext cx="3230575" cy="530352"/>
          </a:xfrm>
          <a:prstGeom prst="rect">
            <a:avLst/>
          </a:prstGeom>
          <a:noFill/>
          <a:ln/>
        </p:spPr>
        <p:txBody>
          <a:bodyPr wrap="square" lIns="0" tIns="0" rIns="0" bIns="0" rtlCol="0" anchor="t"/>
          <a:lstStyle/>
          <a:p>
            <a:pPr marL="0" indent="0">
              <a:buNone/>
            </a:pPr>
            <a:r>
              <a:rPr lang="en-US" sz="1300" dirty="0">
                <a:solidFill>
                  <a:schemeClr val="tx1"/>
                </a:solidFill>
              </a:rPr>
              <a:t>Lends or holds money, or sells a place in the advice.</a:t>
            </a:r>
            <a:endParaRPr lang="en-US" sz="1300" dirty="0"/>
          </a:p>
        </p:txBody>
      </p:sp>
      <p:sp>
        <p:nvSpPr>
          <p:cNvPr id="3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HOW IT WORKS  ·  ONE FARMER, ONE SEASON</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One call turns a harvest into a plan, and the cash to wait</a:t>
            </a:r>
            <a:endParaRPr lang="en-US" sz="3000" dirty="0"/>
          </a:p>
        </p:txBody>
      </p:sp>
      <p:sp>
        <p:nvSpPr>
          <p:cNvPr id="4" name="Step 1"/>
          <p:cNvSpPr/>
          <p:nvPr/>
        </p:nvSpPr>
        <p:spPr>
          <a:xfrm>
            <a:off x="548640"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LuPhoneCall tile"/>
          <p:cNvSpPr/>
          <p:nvPr/>
        </p:nvSpPr>
        <p:spPr>
          <a:xfrm>
            <a:off x="777240"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6" name="Image 0" descr="LuPhoneCall"/>
          <p:cNvPicPr>
            <a:picLocks noChangeAspect="1"/>
          </p:cNvPicPr>
          <p:nvPr/>
        </p:nvPicPr>
        <p:blipFill>
          <a:blip r:embed="rId3"/>
          <a:stretch>
            <a:fillRect/>
          </a:stretch>
        </p:blipFill>
        <p:spPr>
          <a:xfrm>
            <a:off x="910011" y="2144451"/>
            <a:ext cx="337962" cy="337962"/>
          </a:xfrm>
          <a:prstGeom prst="rect">
            <a:avLst/>
          </a:prstGeom>
        </p:spPr>
      </p:pic>
      <p:sp>
        <p:nvSpPr>
          <p:cNvPr id="7" name="Text 4"/>
          <p:cNvSpPr txBox="1"/>
          <p:nvPr/>
        </p:nvSpPr>
        <p:spPr>
          <a:xfrm>
            <a:off x="777240"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1  Call</a:t>
            </a:r>
            <a:endParaRPr lang="en-US" sz="1900" dirty="0"/>
          </a:p>
        </p:txBody>
      </p:sp>
      <p:sp>
        <p:nvSpPr>
          <p:cNvPr id="8" name="Text 5"/>
          <p:cNvSpPr txBox="1"/>
          <p:nvPr/>
        </p:nvSpPr>
        <p:spPr>
          <a:xfrm>
            <a:off x="777240"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He calls or dials USSD with two numbers: sacks harvested, cash needed now.</a:t>
            </a:r>
            <a:endParaRPr lang="en-US" sz="1350" dirty="0"/>
          </a:p>
        </p:txBody>
      </p:sp>
      <p:pic>
        <p:nvPicPr>
          <p:cNvPr id="9" name="Image 1" descr="next"/>
          <p:cNvPicPr>
            <a:picLocks noChangeAspect="1"/>
          </p:cNvPicPr>
          <p:nvPr/>
        </p:nvPicPr>
        <p:blipFill>
          <a:blip r:embed="rId4"/>
          <a:stretch>
            <a:fillRect/>
          </a:stretch>
        </p:blipFill>
        <p:spPr>
          <a:xfrm>
            <a:off x="2587752" y="2999232"/>
            <a:ext cx="237744" cy="237744"/>
          </a:xfrm>
          <a:prstGeom prst="rect">
            <a:avLst/>
          </a:prstGeom>
        </p:spPr>
      </p:pic>
      <p:sp>
        <p:nvSpPr>
          <p:cNvPr id="10" name="Step 2"/>
          <p:cNvSpPr/>
          <p:nvPr/>
        </p:nvSpPr>
        <p:spPr>
          <a:xfrm>
            <a:off x="2807208"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LuCalculator tile"/>
          <p:cNvSpPr/>
          <p:nvPr/>
        </p:nvSpPr>
        <p:spPr>
          <a:xfrm>
            <a:off x="3035808" y="2011680"/>
            <a:ext cx="603504" cy="603504"/>
          </a:xfrm>
          <a:prstGeom prst="rect">
            <a:avLst/>
          </a:prstGeom>
          <a:solidFill>
            <a:schemeClr val="accent1"/>
          </a:solidFill>
          <a:ln/>
          <a:effectLst>
            <a:outerShdw blurRad="88900" dist="25400" dir="5400000" algn="bl" rotWithShape="0">
              <a:srgbClr val="000000">
                <a:alpha val="18000"/>
              </a:srgbClr>
            </a:outerShdw>
          </a:effectLst>
        </p:spPr>
      </p:sp>
      <p:pic>
        <p:nvPicPr>
          <p:cNvPr id="12" name="Image 2" descr="LuCalculator"/>
          <p:cNvPicPr>
            <a:picLocks noChangeAspect="1"/>
          </p:cNvPicPr>
          <p:nvPr/>
        </p:nvPicPr>
        <p:blipFill>
          <a:blip r:embed="rId5"/>
          <a:stretch>
            <a:fillRect/>
          </a:stretch>
        </p:blipFill>
        <p:spPr>
          <a:xfrm>
            <a:off x="3168579" y="2144451"/>
            <a:ext cx="337962" cy="337962"/>
          </a:xfrm>
          <a:prstGeom prst="rect">
            <a:avLst/>
          </a:prstGeom>
        </p:spPr>
      </p:pic>
      <p:sp>
        <p:nvSpPr>
          <p:cNvPr id="13" name="Text 8"/>
          <p:cNvSpPr txBox="1"/>
          <p:nvPr/>
        </p:nvSpPr>
        <p:spPr>
          <a:xfrm>
            <a:off x="3035808"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2  Decide</a:t>
            </a:r>
            <a:endParaRPr lang="en-US" sz="1900" dirty="0"/>
          </a:p>
        </p:txBody>
      </p:sp>
      <p:sp>
        <p:nvSpPr>
          <p:cNvPr id="14" name="Text 9"/>
          <p:cNvSpPr txBox="1"/>
          <p:nvPr/>
        </p:nvSpPr>
        <p:spPr>
          <a:xfrm>
            <a:off x="3035808"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The engine answers in taka: sell 19 sacks now, store 17 until December.</a:t>
            </a:r>
            <a:endParaRPr lang="en-US" sz="1350" dirty="0"/>
          </a:p>
        </p:txBody>
      </p:sp>
      <p:pic>
        <p:nvPicPr>
          <p:cNvPr id="15" name="Image 3" descr="next"/>
          <p:cNvPicPr>
            <a:picLocks noChangeAspect="1"/>
          </p:cNvPicPr>
          <p:nvPr/>
        </p:nvPicPr>
        <p:blipFill>
          <a:blip r:embed="rId4"/>
          <a:stretch>
            <a:fillRect/>
          </a:stretch>
        </p:blipFill>
        <p:spPr>
          <a:xfrm>
            <a:off x="4846320" y="2999232"/>
            <a:ext cx="237744" cy="237744"/>
          </a:xfrm>
          <a:prstGeom prst="rect">
            <a:avLst/>
          </a:prstGeom>
        </p:spPr>
      </p:pic>
      <p:sp>
        <p:nvSpPr>
          <p:cNvPr id="16" name="Step 3"/>
          <p:cNvSpPr/>
          <p:nvPr/>
        </p:nvSpPr>
        <p:spPr>
          <a:xfrm>
            <a:off x="5065776"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ReceiptText tile"/>
          <p:cNvSpPr/>
          <p:nvPr/>
        </p:nvSpPr>
        <p:spPr>
          <a:xfrm>
            <a:off x="5294376"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18" name="Image 4" descr="LuReceiptText"/>
          <p:cNvPicPr>
            <a:picLocks noChangeAspect="1"/>
          </p:cNvPicPr>
          <p:nvPr/>
        </p:nvPicPr>
        <p:blipFill>
          <a:blip r:embed="rId6"/>
          <a:stretch>
            <a:fillRect/>
          </a:stretch>
        </p:blipFill>
        <p:spPr>
          <a:xfrm>
            <a:off x="5427147" y="2144451"/>
            <a:ext cx="337962" cy="337962"/>
          </a:xfrm>
          <a:prstGeom prst="rect">
            <a:avLst/>
          </a:prstGeom>
        </p:spPr>
      </p:pic>
      <p:sp>
        <p:nvSpPr>
          <p:cNvPr id="19" name="Text 12"/>
          <p:cNvSpPr txBox="1"/>
          <p:nvPr/>
        </p:nvSpPr>
        <p:spPr>
          <a:xfrm>
            <a:off x="5294376"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3  Vault</a:t>
            </a:r>
            <a:endParaRPr lang="en-US" sz="1900" dirty="0"/>
          </a:p>
        </p:txBody>
      </p:sp>
      <p:sp>
        <p:nvSpPr>
          <p:cNvPr id="20" name="Text 13"/>
          <p:cNvSpPr txBox="1"/>
          <p:nvPr/>
        </p:nvSpPr>
        <p:spPr>
          <a:xfrm>
            <a:off x="5294376"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The cold storage weighs the sacks and sends a digital receipt by SMS, in his name.</a:t>
            </a:r>
            <a:endParaRPr lang="en-US" sz="1350" dirty="0"/>
          </a:p>
        </p:txBody>
      </p:sp>
      <p:pic>
        <p:nvPicPr>
          <p:cNvPr id="21" name="Image 5" descr="next"/>
          <p:cNvPicPr>
            <a:picLocks noChangeAspect="1"/>
          </p:cNvPicPr>
          <p:nvPr/>
        </p:nvPicPr>
        <p:blipFill>
          <a:blip r:embed="rId4"/>
          <a:stretch>
            <a:fillRect/>
          </a:stretch>
        </p:blipFill>
        <p:spPr>
          <a:xfrm>
            <a:off x="7104888" y="2999232"/>
            <a:ext cx="237744" cy="237744"/>
          </a:xfrm>
          <a:prstGeom prst="rect">
            <a:avLst/>
          </a:prstGeom>
        </p:spPr>
      </p:pic>
      <p:sp>
        <p:nvSpPr>
          <p:cNvPr id="22" name="Step 4"/>
          <p:cNvSpPr/>
          <p:nvPr/>
        </p:nvSpPr>
        <p:spPr>
          <a:xfrm>
            <a:off x="7324344"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3" name="LuLandmark tile"/>
          <p:cNvSpPr/>
          <p:nvPr/>
        </p:nvSpPr>
        <p:spPr>
          <a:xfrm>
            <a:off x="7552944"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24" name="Image 6" descr="LuLandmark"/>
          <p:cNvPicPr>
            <a:picLocks noChangeAspect="1"/>
          </p:cNvPicPr>
          <p:nvPr/>
        </p:nvPicPr>
        <p:blipFill>
          <a:blip r:embed="rId7"/>
          <a:stretch>
            <a:fillRect/>
          </a:stretch>
        </p:blipFill>
        <p:spPr>
          <a:xfrm>
            <a:off x="7685715" y="2144451"/>
            <a:ext cx="337962" cy="337962"/>
          </a:xfrm>
          <a:prstGeom prst="rect">
            <a:avLst/>
          </a:prstGeom>
        </p:spPr>
      </p:pic>
      <p:sp>
        <p:nvSpPr>
          <p:cNvPr id="25" name="Text 16"/>
          <p:cNvSpPr txBox="1"/>
          <p:nvPr/>
        </p:nvSpPr>
        <p:spPr>
          <a:xfrm>
            <a:off x="7552944"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4  Cash</a:t>
            </a:r>
            <a:endParaRPr lang="en-US" sz="1900" dirty="0"/>
          </a:p>
        </p:txBody>
      </p:sp>
      <p:sp>
        <p:nvSpPr>
          <p:cNvPr id="26" name="Text 17"/>
          <p:cNvSpPr txBox="1"/>
          <p:nvPr/>
        </p:nvSpPr>
        <p:spPr>
          <a:xfrm>
            <a:off x="7552944"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A bank lends against the receipt and holds the sacks. No forced sale today.</a:t>
            </a:r>
            <a:endParaRPr lang="en-US" sz="1350" dirty="0"/>
          </a:p>
        </p:txBody>
      </p:sp>
      <p:pic>
        <p:nvPicPr>
          <p:cNvPr id="27" name="Image 7" descr="next"/>
          <p:cNvPicPr>
            <a:picLocks noChangeAspect="1"/>
          </p:cNvPicPr>
          <p:nvPr/>
        </p:nvPicPr>
        <p:blipFill>
          <a:blip r:embed="rId4"/>
          <a:stretch>
            <a:fillRect/>
          </a:stretch>
        </p:blipFill>
        <p:spPr>
          <a:xfrm>
            <a:off x="9363456" y="2999232"/>
            <a:ext cx="237744" cy="237744"/>
          </a:xfrm>
          <a:prstGeom prst="rect">
            <a:avLst/>
          </a:prstGeom>
        </p:spPr>
      </p:pic>
      <p:sp>
        <p:nvSpPr>
          <p:cNvPr id="28" name="Step 5"/>
          <p:cNvSpPr/>
          <p:nvPr/>
        </p:nvSpPr>
        <p:spPr>
          <a:xfrm>
            <a:off x="9582912"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9" name="LuBellRing tile"/>
          <p:cNvSpPr/>
          <p:nvPr/>
        </p:nvSpPr>
        <p:spPr>
          <a:xfrm>
            <a:off x="9811512"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30" name="Image 8" descr="LuBellRing"/>
          <p:cNvPicPr>
            <a:picLocks noChangeAspect="1"/>
          </p:cNvPicPr>
          <p:nvPr/>
        </p:nvPicPr>
        <p:blipFill>
          <a:blip r:embed="rId8"/>
          <a:stretch>
            <a:fillRect/>
          </a:stretch>
        </p:blipFill>
        <p:spPr>
          <a:xfrm>
            <a:off x="9944283" y="2144451"/>
            <a:ext cx="337962" cy="337962"/>
          </a:xfrm>
          <a:prstGeom prst="rect">
            <a:avLst/>
          </a:prstGeom>
        </p:spPr>
      </p:pic>
      <p:sp>
        <p:nvSpPr>
          <p:cNvPr id="31" name="Text 20"/>
          <p:cNvSpPr txBox="1"/>
          <p:nvPr/>
        </p:nvSpPr>
        <p:spPr>
          <a:xfrm>
            <a:off x="9811512"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5  Sell</a:t>
            </a:r>
            <a:endParaRPr lang="en-US" sz="1900" dirty="0"/>
          </a:p>
        </p:txBody>
      </p:sp>
      <p:sp>
        <p:nvSpPr>
          <p:cNvPr id="32" name="Text 21"/>
          <p:cNvSpPr txBox="1"/>
          <p:nvPr/>
        </p:nvSpPr>
        <p:spPr>
          <a:xfrm>
            <a:off x="9811512"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A price alert, by call or SMS, says how many sacks to sell and to whom. The sale pays storage, bank, then him.</a:t>
            </a:r>
            <a:endParaRPr lang="en-US" sz="1350" dirty="0"/>
          </a:p>
        </p:txBody>
      </p:sp>
      <p:sp>
        <p:nvSpPr>
          <p:cNvPr id="33" name="Seven parts card"/>
          <p:cNvSpPr/>
          <p:nvPr/>
        </p:nvSpPr>
        <p:spPr>
          <a:xfrm>
            <a:off x="548640" y="4709160"/>
            <a:ext cx="6949440" cy="146304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4" name="Text 23"/>
          <p:cNvSpPr txBox="1"/>
          <p:nvPr/>
        </p:nvSpPr>
        <p:spPr>
          <a:xfrm>
            <a:off x="822960" y="4846320"/>
            <a:ext cx="64008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SEVEN PARTS, ONE LOOP</a:t>
            </a:r>
            <a:endParaRPr lang="en-US" sz="1200" dirty="0"/>
          </a:p>
        </p:txBody>
      </p:sp>
      <p:sp>
        <p:nvSpPr>
          <p:cNvPr id="35" name="Part 1"/>
          <p:cNvSpPr/>
          <p:nvPr/>
        </p:nvSpPr>
        <p:spPr>
          <a:xfrm>
            <a:off x="822960" y="5193792"/>
            <a:ext cx="1700784" cy="329184"/>
          </a:xfrm>
          <a:prstGeom prst="rect">
            <a:avLst/>
          </a:prstGeom>
          <a:solidFill>
            <a:schemeClr val="bg2"/>
          </a:solidFill>
          <a:ln w="9525">
            <a:solidFill>
              <a:srgbClr val="CFDACB"/>
            </a:solidFill>
            <a:prstDash val="solid"/>
          </a:ln>
        </p:spPr>
      </p:sp>
      <p:sp>
        <p:nvSpPr>
          <p:cNvPr id="36" name="Text 25"/>
          <p:cNvSpPr txBox="1"/>
          <p:nvPr/>
        </p:nvSpPr>
        <p:spPr>
          <a:xfrm>
            <a:off x="822960" y="5193792"/>
            <a:ext cx="1700784" cy="329184"/>
          </a:xfrm>
          <a:prstGeom prst="rect">
            <a:avLst/>
          </a:prstGeom>
          <a:noFill/>
          <a:ln/>
        </p:spPr>
        <p:txBody>
          <a:bodyPr wrap="square" lIns="0" tIns="0" rIns="0" bIns="0" rtlCol="0" anchor="ctr"/>
          <a:lstStyle/>
          <a:p>
            <a:pPr marL="0" indent="0" algn="ctr">
              <a:buNone/>
            </a:pPr>
            <a:r>
              <a:rPr lang="en-US" sz="1250" dirty="0">
                <a:solidFill>
                  <a:schemeClr val="tx1"/>
                </a:solidFill>
              </a:rPr>
              <a:t>Price and crop outlook</a:t>
            </a:r>
            <a:endParaRPr lang="en-US" sz="1250" dirty="0"/>
          </a:p>
        </p:txBody>
      </p:sp>
      <p:sp>
        <p:nvSpPr>
          <p:cNvPr id="37" name="Part 2"/>
          <p:cNvSpPr/>
          <p:nvPr/>
        </p:nvSpPr>
        <p:spPr>
          <a:xfrm>
            <a:off x="2633472" y="5193792"/>
            <a:ext cx="1572768" cy="329184"/>
          </a:xfrm>
          <a:prstGeom prst="rect">
            <a:avLst/>
          </a:prstGeom>
          <a:solidFill>
            <a:schemeClr val="bg2"/>
          </a:solidFill>
          <a:ln w="9525">
            <a:solidFill>
              <a:srgbClr val="CFDACB"/>
            </a:solidFill>
            <a:prstDash val="solid"/>
          </a:ln>
        </p:spPr>
      </p:sp>
      <p:sp>
        <p:nvSpPr>
          <p:cNvPr id="38" name="Text 27"/>
          <p:cNvSpPr txBox="1"/>
          <p:nvPr/>
        </p:nvSpPr>
        <p:spPr>
          <a:xfrm>
            <a:off x="2633472" y="5193792"/>
            <a:ext cx="1572768" cy="329184"/>
          </a:xfrm>
          <a:prstGeom prst="rect">
            <a:avLst/>
          </a:prstGeom>
          <a:noFill/>
          <a:ln/>
        </p:spPr>
        <p:txBody>
          <a:bodyPr wrap="square" lIns="0" tIns="0" rIns="0" bIns="0" rtlCol="0" anchor="ctr"/>
          <a:lstStyle/>
          <a:p>
            <a:pPr marL="0" indent="0" algn="ctr">
              <a:buNone/>
            </a:pPr>
            <a:r>
              <a:rPr lang="en-US" sz="1250" dirty="0">
                <a:solidFill>
                  <a:schemeClr val="tx1"/>
                </a:solidFill>
              </a:rPr>
              <a:t>Store-or-sell engine</a:t>
            </a:r>
            <a:endParaRPr lang="en-US" sz="1250" dirty="0"/>
          </a:p>
        </p:txBody>
      </p:sp>
      <p:sp>
        <p:nvSpPr>
          <p:cNvPr id="39" name="Part 3"/>
          <p:cNvSpPr/>
          <p:nvPr/>
        </p:nvSpPr>
        <p:spPr>
          <a:xfrm>
            <a:off x="4315968" y="5193792"/>
            <a:ext cx="1380744" cy="329184"/>
          </a:xfrm>
          <a:prstGeom prst="rect">
            <a:avLst/>
          </a:prstGeom>
          <a:solidFill>
            <a:schemeClr val="bg2"/>
          </a:solidFill>
          <a:ln w="9525">
            <a:solidFill>
              <a:srgbClr val="CFDACB"/>
            </a:solidFill>
            <a:prstDash val="solid"/>
          </a:ln>
        </p:spPr>
      </p:sp>
      <p:sp>
        <p:nvSpPr>
          <p:cNvPr id="40" name="Text 29"/>
          <p:cNvSpPr txBox="1"/>
          <p:nvPr/>
        </p:nvSpPr>
        <p:spPr>
          <a:xfrm>
            <a:off x="4315968" y="5193792"/>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Crop-backed loans</a:t>
            </a:r>
            <a:endParaRPr lang="en-US" sz="1250" dirty="0"/>
          </a:p>
        </p:txBody>
      </p:sp>
      <p:sp>
        <p:nvSpPr>
          <p:cNvPr id="41" name="Part 4"/>
          <p:cNvSpPr/>
          <p:nvPr/>
        </p:nvSpPr>
        <p:spPr>
          <a:xfrm>
            <a:off x="5806440" y="5193792"/>
            <a:ext cx="1188720" cy="329184"/>
          </a:xfrm>
          <a:prstGeom prst="rect">
            <a:avLst/>
          </a:prstGeom>
          <a:solidFill>
            <a:schemeClr val="bg2"/>
          </a:solidFill>
          <a:ln w="9525">
            <a:solidFill>
              <a:srgbClr val="CFDACB"/>
            </a:solidFill>
            <a:prstDash val="solid"/>
          </a:ln>
        </p:spPr>
      </p:sp>
      <p:sp>
        <p:nvSpPr>
          <p:cNvPr id="42" name="Text 31"/>
          <p:cNvSpPr txBox="1"/>
          <p:nvPr/>
        </p:nvSpPr>
        <p:spPr>
          <a:xfrm>
            <a:off x="5806440" y="5193792"/>
            <a:ext cx="1188720" cy="329184"/>
          </a:xfrm>
          <a:prstGeom prst="rect">
            <a:avLst/>
          </a:prstGeom>
          <a:noFill/>
          <a:ln/>
        </p:spPr>
        <p:txBody>
          <a:bodyPr wrap="square" lIns="0" tIns="0" rIns="0" bIns="0" rtlCol="0" anchor="ctr"/>
          <a:lstStyle/>
          <a:p>
            <a:pPr marL="0" indent="0" algn="ctr">
              <a:buNone/>
            </a:pPr>
            <a:r>
              <a:rPr lang="en-US" sz="1250" dirty="0">
                <a:solidFill>
                  <a:schemeClr val="tx1"/>
                </a:solidFill>
              </a:rPr>
              <a:t>Buyer matching</a:t>
            </a:r>
            <a:endParaRPr lang="en-US" sz="1250" dirty="0"/>
          </a:p>
        </p:txBody>
      </p:sp>
      <p:sp>
        <p:nvSpPr>
          <p:cNvPr id="43" name="Part 5"/>
          <p:cNvSpPr/>
          <p:nvPr/>
        </p:nvSpPr>
        <p:spPr>
          <a:xfrm>
            <a:off x="822960" y="5623560"/>
            <a:ext cx="1892808" cy="329184"/>
          </a:xfrm>
          <a:prstGeom prst="rect">
            <a:avLst/>
          </a:prstGeom>
          <a:solidFill>
            <a:schemeClr val="bg2"/>
          </a:solidFill>
          <a:ln w="9525">
            <a:solidFill>
              <a:srgbClr val="CFDACB"/>
            </a:solidFill>
            <a:prstDash val="solid"/>
          </a:ln>
        </p:spPr>
      </p:sp>
      <p:sp>
        <p:nvSpPr>
          <p:cNvPr id="44" name="Text 33"/>
          <p:cNvSpPr txBox="1"/>
          <p:nvPr/>
        </p:nvSpPr>
        <p:spPr>
          <a:xfrm>
            <a:off x="822960" y="5623560"/>
            <a:ext cx="1892808" cy="329184"/>
          </a:xfrm>
          <a:prstGeom prst="rect">
            <a:avLst/>
          </a:prstGeom>
          <a:noFill/>
          <a:ln/>
        </p:spPr>
        <p:txBody>
          <a:bodyPr wrap="square" lIns="0" tIns="0" rIns="0" bIns="0" rtlCol="0" anchor="ctr"/>
          <a:lstStyle/>
          <a:p>
            <a:pPr marL="0" indent="0" algn="ctr">
              <a:buNone/>
            </a:pPr>
            <a:r>
              <a:rPr lang="en-US" sz="1250" dirty="0">
                <a:solidFill>
                  <a:schemeClr val="tx1"/>
                </a:solidFill>
              </a:rPr>
              <a:t>Group storage and selling</a:t>
            </a:r>
            <a:endParaRPr lang="en-US" sz="1250" dirty="0"/>
          </a:p>
        </p:txBody>
      </p:sp>
      <p:sp>
        <p:nvSpPr>
          <p:cNvPr id="45" name="Part 6"/>
          <p:cNvSpPr/>
          <p:nvPr/>
        </p:nvSpPr>
        <p:spPr>
          <a:xfrm>
            <a:off x="2825496" y="5623560"/>
            <a:ext cx="1508760" cy="329184"/>
          </a:xfrm>
          <a:prstGeom prst="rect">
            <a:avLst/>
          </a:prstGeom>
          <a:solidFill>
            <a:schemeClr val="bg2"/>
          </a:solidFill>
          <a:ln w="9525">
            <a:solidFill>
              <a:srgbClr val="CFDACB"/>
            </a:solidFill>
            <a:prstDash val="solid"/>
          </a:ln>
        </p:spPr>
      </p:sp>
      <p:sp>
        <p:nvSpPr>
          <p:cNvPr id="46" name="Text 35"/>
          <p:cNvSpPr txBox="1"/>
          <p:nvPr/>
        </p:nvSpPr>
        <p:spPr>
          <a:xfrm>
            <a:off x="2825496" y="5623560"/>
            <a:ext cx="1508760" cy="329184"/>
          </a:xfrm>
          <a:prstGeom prst="rect">
            <a:avLst/>
          </a:prstGeom>
          <a:noFill/>
          <a:ln/>
        </p:spPr>
        <p:txBody>
          <a:bodyPr wrap="square" lIns="0" tIns="0" rIns="0" bIns="0" rtlCol="0" anchor="ctr"/>
          <a:lstStyle/>
          <a:p>
            <a:pPr marL="0" indent="0" algn="ctr">
              <a:buNone/>
            </a:pPr>
            <a:r>
              <a:rPr lang="en-US" sz="1250" dirty="0">
                <a:solidFill>
                  <a:schemeClr val="tx1"/>
                </a:solidFill>
              </a:rPr>
              <a:t>Export intelligence</a:t>
            </a:r>
            <a:endParaRPr lang="en-US" sz="1250" dirty="0"/>
          </a:p>
        </p:txBody>
      </p:sp>
      <p:sp>
        <p:nvSpPr>
          <p:cNvPr id="47" name="Part 7"/>
          <p:cNvSpPr/>
          <p:nvPr/>
        </p:nvSpPr>
        <p:spPr>
          <a:xfrm>
            <a:off x="4443984" y="5623560"/>
            <a:ext cx="1380744" cy="329184"/>
          </a:xfrm>
          <a:prstGeom prst="rect">
            <a:avLst/>
          </a:prstGeom>
          <a:solidFill>
            <a:schemeClr val="bg2"/>
          </a:solidFill>
          <a:ln w="9525">
            <a:solidFill>
              <a:srgbClr val="CFDACB"/>
            </a:solidFill>
            <a:prstDash val="solid"/>
          </a:ln>
        </p:spPr>
      </p:sp>
      <p:sp>
        <p:nvSpPr>
          <p:cNvPr id="48" name="Text 37"/>
          <p:cNvSpPr txBox="1"/>
          <p:nvPr/>
        </p:nvSpPr>
        <p:spPr>
          <a:xfrm>
            <a:off x="4443984" y="5623560"/>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Profit calculator</a:t>
            </a:r>
            <a:endParaRPr lang="en-US" sz="1250" dirty="0"/>
          </a:p>
        </p:txBody>
      </p:sp>
      <p:sp>
        <p:nvSpPr>
          <p:cNvPr id="49" name="Result card"/>
          <p:cNvSpPr/>
          <p:nvPr/>
        </p:nvSpPr>
        <p:spPr>
          <a:xfrm>
            <a:off x="7726680" y="4709160"/>
            <a:ext cx="3916375" cy="1463040"/>
          </a:xfrm>
          <a:prstGeom prst="rect">
            <a:avLst/>
          </a:prstGeom>
          <a:solidFill>
            <a:schemeClr val="tx2"/>
          </a:solidFill>
          <a:ln/>
          <a:effectLst>
            <a:outerShdw blurRad="88900" dist="25400" dir="5400000" algn="bl" rotWithShape="0">
              <a:srgbClr val="000000">
                <a:alpha val="14000"/>
              </a:srgbClr>
            </a:outerShdw>
          </a:effectLst>
        </p:spPr>
      </p:sp>
      <p:sp>
        <p:nvSpPr>
          <p:cNvPr id="50" name="Text 39"/>
          <p:cNvSpPr txBox="1"/>
          <p:nvPr/>
        </p:nvSpPr>
        <p:spPr>
          <a:xfrm>
            <a:off x="8001000" y="4846320"/>
            <a:ext cx="356616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HIS SEASON, IN TAKA (36 SACKS)</a:t>
            </a:r>
            <a:endParaRPr lang="en-US" sz="1200" dirty="0"/>
          </a:p>
        </p:txBody>
      </p:sp>
      <p:sp>
        <p:nvSpPr>
          <p:cNvPr id="51" name="Text 40"/>
          <p:cNvSpPr txBox="1"/>
          <p:nvPr/>
        </p:nvSpPr>
        <p:spPr>
          <a:xfrm>
            <a:off x="8001000" y="5175504"/>
            <a:ext cx="3566160" cy="914400"/>
          </a:xfrm>
          <a:prstGeom prst="rect">
            <a:avLst/>
          </a:prstGeom>
          <a:noFill/>
          <a:ln/>
        </p:spPr>
        <p:txBody>
          <a:bodyPr wrap="square" lIns="0" tIns="0" rIns="0" bIns="0" rtlCol="0" anchor="t"/>
          <a:lstStyle/>
          <a:p>
            <a:pPr marL="0" indent="0">
              <a:spcAft>
                <a:spcPts val="300"/>
              </a:spcAft>
              <a:buNone/>
            </a:pPr>
            <a:r>
              <a:rPr lang="en-US" sz="1350" b="1" dirty="0">
                <a:solidFill>
                  <a:schemeClr val="accent1"/>
                </a:solidFill>
              </a:rPr>
              <a:t>৳25,020 in hand today: </a:t>
            </a:r>
            <a:r>
              <a:rPr lang="en-US" sz="1350" dirty="0">
                <a:solidFill>
                  <a:schemeClr val="bg1"/>
                </a:solidFill>
              </a:rPr>
              <a:t>the cash he needed</a:t>
            </a:r>
            <a:endParaRPr lang="en-US" sz="1350" dirty="0"/>
          </a:p>
          <a:p>
            <a:pPr marL="0" indent="0">
              <a:spcAft>
                <a:spcPts val="300"/>
              </a:spcAft>
              <a:buNone/>
            </a:pPr>
            <a:r>
              <a:rPr lang="en-US" sz="1350" b="1" dirty="0">
                <a:solidFill>
                  <a:schemeClr val="accent1"/>
                </a:solidFill>
              </a:rPr>
              <a:t>Net profit ৳12,940 </a:t>
            </a:r>
            <a:r>
              <a:rPr lang="en-US" sz="1350" dirty="0">
                <a:solidFill>
                  <a:schemeClr val="bg1"/>
                </a:solidFill>
              </a:rPr>
              <a:t>on average, not ৳5,610</a:t>
            </a:r>
            <a:endParaRPr lang="en-US" sz="1350" dirty="0"/>
          </a:p>
          <a:p>
            <a:pPr marL="0" indent="0">
              <a:spcAft>
                <a:spcPts val="300"/>
              </a:spcAft>
              <a:buNone/>
            </a:pPr>
            <a:r>
              <a:rPr lang="en-US" sz="1350" b="1" dirty="0">
                <a:solidFill>
                  <a:schemeClr val="accent1"/>
                </a:solidFill>
              </a:rPr>
              <a:t>Bad case said aloud: </a:t>
            </a:r>
            <a:r>
              <a:rPr lang="en-US" sz="1350" dirty="0">
                <a:solidFill>
                  <a:schemeClr val="bg1"/>
                </a:solidFill>
              </a:rPr>
              <a:t>−৳4,970 (1 in 10)</a:t>
            </a:r>
            <a:endParaRPr lang="en-US" sz="1350" dirty="0"/>
          </a:p>
        </p:txBody>
      </p:sp>
      <p:sp>
        <p:nvSpPr>
          <p:cNvPr id="5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1"/>
                </a:solidFill>
              </a:rPr>
              <a:t>AI AND TECHNICAL RATIONALE  ·  LIVE DEMO</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bg1"/>
                </a:solidFill>
                <a:latin typeface="Georgia" pitchFamily="34" charset="0"/>
                <a:ea typeface="Georgia" pitchFamily="34" charset="-122"/>
                <a:cs typeface="Georgia" pitchFamily="34" charset="-120"/>
              </a:rPr>
              <a:t>AI listens and speaks Bangla. Exact sums decide.</a:t>
            </a:r>
            <a:endParaRPr lang="en-US" sz="3000" dirty="0"/>
          </a:p>
        </p:txBody>
      </p:sp>
      <p:sp>
        <p:nvSpPr>
          <p:cNvPr id="4" name="UNDERSTAND lane"/>
          <p:cNvSpPr/>
          <p:nvPr/>
        </p:nvSpPr>
        <p:spPr>
          <a:xfrm>
            <a:off x="548640"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5" name="LuAudioLines tile"/>
          <p:cNvSpPr/>
          <p:nvPr/>
        </p:nvSpPr>
        <p:spPr>
          <a:xfrm>
            <a:off x="777240" y="1993392"/>
            <a:ext cx="566928" cy="566928"/>
          </a:xfrm>
          <a:prstGeom prst="rect">
            <a:avLst/>
          </a:prstGeom>
          <a:solidFill>
            <a:schemeClr val="bg1"/>
          </a:solidFill>
          <a:ln/>
          <a:effectLst>
            <a:outerShdw blurRad="88900" dist="25400" dir="5400000" algn="bl" rotWithShape="0">
              <a:srgbClr val="000000">
                <a:alpha val="18000"/>
              </a:srgbClr>
            </a:outerShdw>
          </a:effectLst>
        </p:spPr>
      </p:sp>
      <p:pic>
        <p:nvPicPr>
          <p:cNvPr id="6" name="Image 0" descr="LuAudioLines"/>
          <p:cNvPicPr>
            <a:picLocks noChangeAspect="1"/>
          </p:cNvPicPr>
          <p:nvPr/>
        </p:nvPicPr>
        <p:blipFill>
          <a:blip r:embed="rId3"/>
          <a:stretch>
            <a:fillRect/>
          </a:stretch>
        </p:blipFill>
        <p:spPr>
          <a:xfrm>
            <a:off x="901964" y="2118116"/>
            <a:ext cx="317480" cy="317480"/>
          </a:xfrm>
          <a:prstGeom prst="rect">
            <a:avLst/>
          </a:prstGeom>
        </p:spPr>
      </p:pic>
      <p:sp>
        <p:nvSpPr>
          <p:cNvPr id="7" name="Text 4"/>
          <p:cNvSpPr txBox="1"/>
          <p:nvPr/>
        </p:nvSpPr>
        <p:spPr>
          <a:xfrm>
            <a:off x="1508760" y="1993392"/>
            <a:ext cx="2194560" cy="310896"/>
          </a:xfrm>
          <a:prstGeom prst="rect">
            <a:avLst/>
          </a:prstGeom>
          <a:noFill/>
          <a:ln/>
        </p:spPr>
        <p:txBody>
          <a:bodyPr wrap="square" lIns="0" tIns="0" rIns="0" bIns="0" rtlCol="0" anchor="t"/>
          <a:lstStyle/>
          <a:p>
            <a:pPr marL="0" indent="0">
              <a:buNone/>
            </a:pPr>
            <a:r>
              <a:rPr lang="en-US" sz="1700" b="1" kern="0" spc="200" dirty="0">
                <a:solidFill>
                  <a:schemeClr val="bg1"/>
                </a:solidFill>
              </a:rPr>
              <a:t>UNDERSTAND</a:t>
            </a:r>
            <a:endParaRPr lang="en-US" sz="1700" dirty="0"/>
          </a:p>
        </p:txBody>
      </p:sp>
      <p:sp>
        <p:nvSpPr>
          <p:cNvPr id="8" name="Text 5"/>
          <p:cNvSpPr txBox="1"/>
          <p:nvPr/>
        </p:nvSpPr>
        <p:spPr>
          <a:xfrm>
            <a:off x="1508760"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AI</a:t>
            </a:r>
            <a:endParaRPr lang="en-US" sz="1300" dirty="0"/>
          </a:p>
        </p:txBody>
      </p:sp>
      <p:sp>
        <p:nvSpPr>
          <p:cNvPr id="9" name="Text 6"/>
          <p:cNvSpPr txBox="1"/>
          <p:nvPr/>
        </p:nvSpPr>
        <p:spPr>
          <a:xfrm>
            <a:off x="777240"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Google Bangla speech-to-text</a:t>
            </a:r>
            <a:endParaRPr lang="en-US" sz="1400" dirty="0"/>
          </a:p>
          <a:p>
            <a:pPr marL="177800" indent="-177800">
              <a:spcAft>
                <a:spcPts val="500"/>
              </a:spcAft>
              <a:buSzPct val="100000"/>
              <a:buChar char="•"/>
            </a:pPr>
            <a:r>
              <a:rPr lang="en-US" sz="1400" dirty="0">
                <a:solidFill>
                  <a:srgbClr val="E6EEE8"/>
                </a:solidFill>
              </a:rPr>
              <a:t>Our parser reads dialect: মণ, বস্তা, টেকা</a:t>
            </a:r>
            <a:endParaRPr lang="en-US" sz="1400" dirty="0"/>
          </a:p>
          <a:p>
            <a:pPr marL="177800" indent="-177800">
              <a:spcAft>
                <a:spcPts val="500"/>
              </a:spcAft>
              <a:buSzPct val="100000"/>
              <a:buChar char="•"/>
            </a:pPr>
            <a:r>
              <a:rPr lang="en-US" sz="1400" dirty="0">
                <a:solidFill>
                  <a:srgbClr val="E6EEE8"/>
                </a:solidFill>
              </a:rPr>
              <a:t>Gemini fills gaps; every number must have been said</a:t>
            </a:r>
            <a:endParaRPr lang="en-US" sz="1400" dirty="0"/>
          </a:p>
        </p:txBody>
      </p:sp>
      <p:pic>
        <p:nvPicPr>
          <p:cNvPr id="10" name="Image 1" descr="then"/>
          <p:cNvPicPr>
            <a:picLocks noChangeAspect="1"/>
          </p:cNvPicPr>
          <p:nvPr/>
        </p:nvPicPr>
        <p:blipFill>
          <a:blip r:embed="rId4"/>
          <a:stretch>
            <a:fillRect/>
          </a:stretch>
        </p:blipFill>
        <p:spPr>
          <a:xfrm>
            <a:off x="4054754" y="2971800"/>
            <a:ext cx="256032" cy="256032"/>
          </a:xfrm>
          <a:prstGeom prst="rect">
            <a:avLst/>
          </a:prstGeom>
        </p:spPr>
      </p:pic>
      <p:sp>
        <p:nvSpPr>
          <p:cNvPr id="11" name="DECIDE lane"/>
          <p:cNvSpPr/>
          <p:nvPr/>
        </p:nvSpPr>
        <p:spPr>
          <a:xfrm>
            <a:off x="4374794"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12" name="LuSigma tile"/>
          <p:cNvSpPr/>
          <p:nvPr/>
        </p:nvSpPr>
        <p:spPr>
          <a:xfrm>
            <a:off x="4603394" y="1993392"/>
            <a:ext cx="566928" cy="566928"/>
          </a:xfrm>
          <a:prstGeom prst="rect">
            <a:avLst/>
          </a:prstGeom>
          <a:solidFill>
            <a:schemeClr val="accent1"/>
          </a:solidFill>
          <a:ln/>
          <a:effectLst>
            <a:outerShdw blurRad="88900" dist="25400" dir="5400000" algn="bl" rotWithShape="0">
              <a:srgbClr val="000000">
                <a:alpha val="18000"/>
              </a:srgbClr>
            </a:outerShdw>
          </a:effectLst>
        </p:spPr>
      </p:sp>
      <p:pic>
        <p:nvPicPr>
          <p:cNvPr id="13" name="Image 2" descr="LuSigma"/>
          <p:cNvPicPr>
            <a:picLocks noChangeAspect="1"/>
          </p:cNvPicPr>
          <p:nvPr/>
        </p:nvPicPr>
        <p:blipFill>
          <a:blip r:embed="rId5"/>
          <a:stretch>
            <a:fillRect/>
          </a:stretch>
        </p:blipFill>
        <p:spPr>
          <a:xfrm>
            <a:off x="4728119" y="2118116"/>
            <a:ext cx="317480" cy="317480"/>
          </a:xfrm>
          <a:prstGeom prst="rect">
            <a:avLst/>
          </a:prstGeom>
        </p:spPr>
      </p:pic>
      <p:sp>
        <p:nvSpPr>
          <p:cNvPr id="14" name="Text 9"/>
          <p:cNvSpPr txBox="1"/>
          <p:nvPr/>
        </p:nvSpPr>
        <p:spPr>
          <a:xfrm>
            <a:off x="5334914" y="1993392"/>
            <a:ext cx="2194560" cy="310896"/>
          </a:xfrm>
          <a:prstGeom prst="rect">
            <a:avLst/>
          </a:prstGeom>
          <a:noFill/>
          <a:ln/>
        </p:spPr>
        <p:txBody>
          <a:bodyPr wrap="square" lIns="0" tIns="0" rIns="0" bIns="0" rtlCol="0" anchor="t"/>
          <a:lstStyle/>
          <a:p>
            <a:pPr marL="0" indent="0">
              <a:buNone/>
            </a:pPr>
            <a:r>
              <a:rPr lang="en-US" sz="1700" b="1" kern="0" spc="200" dirty="0">
                <a:solidFill>
                  <a:schemeClr val="accent1"/>
                </a:solidFill>
              </a:rPr>
              <a:t>DECIDE</a:t>
            </a:r>
            <a:endParaRPr lang="en-US" sz="1700" dirty="0"/>
          </a:p>
        </p:txBody>
      </p:sp>
      <p:sp>
        <p:nvSpPr>
          <p:cNvPr id="15" name="Text 10"/>
          <p:cNvSpPr txBox="1"/>
          <p:nvPr/>
        </p:nvSpPr>
        <p:spPr>
          <a:xfrm>
            <a:off x="5334914"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statistics + exact sums</a:t>
            </a:r>
            <a:endParaRPr lang="en-US" sz="1300" dirty="0"/>
          </a:p>
        </p:txBody>
      </p:sp>
      <p:sp>
        <p:nvSpPr>
          <p:cNvPr id="16" name="Text 11"/>
          <p:cNvSpPr txBox="1"/>
          <p:nvPr/>
        </p:nvSpPr>
        <p:spPr>
          <a:xfrm>
            <a:off x="4603394"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Price outlook driven by crop size (BBS + WFP)</a:t>
            </a:r>
            <a:endParaRPr lang="en-US" sz="1400" dirty="0"/>
          </a:p>
          <a:p>
            <a:pPr marL="177800" indent="-177800">
              <a:spcAft>
                <a:spcPts val="500"/>
              </a:spcAft>
              <a:buSzPct val="100000"/>
              <a:buChar char="•"/>
            </a:pPr>
            <a:r>
              <a:rPr lang="en-US" sz="1400" dirty="0">
                <a:solidFill>
                  <a:srgbClr val="E6EEE8"/>
                </a:solidFill>
              </a:rPr>
              <a:t>2,000 simulated price paths, always a range</a:t>
            </a:r>
            <a:endParaRPr lang="en-US" sz="1400" dirty="0"/>
          </a:p>
          <a:p>
            <a:pPr marL="177800" indent="-177800">
              <a:spcAft>
                <a:spcPts val="500"/>
              </a:spcAft>
              <a:buSzPct val="100000"/>
              <a:buChar char="•"/>
            </a:pPr>
            <a:r>
              <a:rPr lang="en-US" sz="1400" dirty="0">
                <a:solidFill>
                  <a:srgbClr val="E6EEE8"/>
                </a:solidFill>
              </a:rPr>
              <a:t>Rent, 8.65% weight loss, interest, net profit</a:t>
            </a:r>
            <a:endParaRPr lang="en-US" sz="1400" dirty="0"/>
          </a:p>
        </p:txBody>
      </p:sp>
      <p:pic>
        <p:nvPicPr>
          <p:cNvPr id="17" name="Image 3" descr="then"/>
          <p:cNvPicPr>
            <a:picLocks noChangeAspect="1"/>
          </p:cNvPicPr>
          <p:nvPr/>
        </p:nvPicPr>
        <p:blipFill>
          <a:blip r:embed="rId4"/>
          <a:stretch>
            <a:fillRect/>
          </a:stretch>
        </p:blipFill>
        <p:spPr>
          <a:xfrm>
            <a:off x="7880909" y="2971800"/>
            <a:ext cx="256032" cy="256032"/>
          </a:xfrm>
          <a:prstGeom prst="rect">
            <a:avLst/>
          </a:prstGeom>
        </p:spPr>
      </p:pic>
      <p:sp>
        <p:nvSpPr>
          <p:cNvPr id="18" name="SPEAK lane"/>
          <p:cNvSpPr/>
          <p:nvPr/>
        </p:nvSpPr>
        <p:spPr>
          <a:xfrm>
            <a:off x="8200949"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19" name="LuLock tile"/>
          <p:cNvSpPr/>
          <p:nvPr/>
        </p:nvSpPr>
        <p:spPr>
          <a:xfrm>
            <a:off x="8429549" y="1993392"/>
            <a:ext cx="566928" cy="566928"/>
          </a:xfrm>
          <a:prstGeom prst="rect">
            <a:avLst/>
          </a:prstGeom>
          <a:solidFill>
            <a:schemeClr val="bg1"/>
          </a:solidFill>
          <a:ln/>
          <a:effectLst>
            <a:outerShdw blurRad="88900" dist="25400" dir="5400000" algn="bl" rotWithShape="0">
              <a:srgbClr val="000000">
                <a:alpha val="18000"/>
              </a:srgbClr>
            </a:outerShdw>
          </a:effectLst>
        </p:spPr>
      </p:sp>
      <p:pic>
        <p:nvPicPr>
          <p:cNvPr id="20" name="Image 4" descr="LuLock"/>
          <p:cNvPicPr>
            <a:picLocks noChangeAspect="1"/>
          </p:cNvPicPr>
          <p:nvPr/>
        </p:nvPicPr>
        <p:blipFill>
          <a:blip r:embed="rId6"/>
          <a:stretch>
            <a:fillRect/>
          </a:stretch>
        </p:blipFill>
        <p:spPr>
          <a:xfrm>
            <a:off x="8554273" y="2118116"/>
            <a:ext cx="317480" cy="317480"/>
          </a:xfrm>
          <a:prstGeom prst="rect">
            <a:avLst/>
          </a:prstGeom>
        </p:spPr>
      </p:pic>
      <p:sp>
        <p:nvSpPr>
          <p:cNvPr id="21" name="Text 14"/>
          <p:cNvSpPr txBox="1"/>
          <p:nvPr/>
        </p:nvSpPr>
        <p:spPr>
          <a:xfrm>
            <a:off x="9161069" y="1993392"/>
            <a:ext cx="2194560" cy="310896"/>
          </a:xfrm>
          <a:prstGeom prst="rect">
            <a:avLst/>
          </a:prstGeom>
          <a:noFill/>
          <a:ln/>
        </p:spPr>
        <p:txBody>
          <a:bodyPr wrap="square" lIns="0" tIns="0" rIns="0" bIns="0" rtlCol="0" anchor="t"/>
          <a:lstStyle/>
          <a:p>
            <a:pPr marL="0" indent="0">
              <a:buNone/>
            </a:pPr>
            <a:r>
              <a:rPr lang="en-US" sz="1700" b="1" kern="0" spc="200" dirty="0">
                <a:solidFill>
                  <a:schemeClr val="bg1"/>
                </a:solidFill>
              </a:rPr>
              <a:t>SPEAK</a:t>
            </a:r>
            <a:endParaRPr lang="en-US" sz="1700" dirty="0"/>
          </a:p>
        </p:txBody>
      </p:sp>
      <p:sp>
        <p:nvSpPr>
          <p:cNvPr id="22" name="Text 15"/>
          <p:cNvSpPr txBox="1"/>
          <p:nvPr/>
        </p:nvSpPr>
        <p:spPr>
          <a:xfrm>
            <a:off x="9161069"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AI, under a lock</a:t>
            </a:r>
            <a:endParaRPr lang="en-US" sz="1300" dirty="0"/>
          </a:p>
        </p:txBody>
      </p:sp>
      <p:sp>
        <p:nvSpPr>
          <p:cNvPr id="23" name="Text 16"/>
          <p:cNvSpPr txBox="1"/>
          <p:nvPr/>
        </p:nvSpPr>
        <p:spPr>
          <a:xfrm>
            <a:off x="8429549"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Bangla answer from the engine's numbers</a:t>
            </a:r>
            <a:endParaRPr lang="en-US" sz="1400" dirty="0"/>
          </a:p>
          <a:p>
            <a:pPr marL="177800" indent="-177800">
              <a:spcAft>
                <a:spcPts val="500"/>
              </a:spcAft>
              <a:buSzPct val="100000"/>
              <a:buChar char="•"/>
            </a:pPr>
            <a:r>
              <a:rPr lang="en-US" sz="1400" dirty="0">
                <a:solidFill>
                  <a:srgbClr val="E6EEE8"/>
                </a:solidFill>
              </a:rPr>
              <a:t>Number lock: any changed figure is thrown out</a:t>
            </a:r>
            <a:endParaRPr lang="en-US" sz="1400" dirty="0"/>
          </a:p>
          <a:p>
            <a:pPr marL="177800" indent="-177800">
              <a:spcAft>
                <a:spcPts val="500"/>
              </a:spcAft>
              <a:buSzPct val="100000"/>
              <a:buChar char="•"/>
            </a:pPr>
            <a:r>
              <a:rPr lang="en-US" sz="1400" dirty="0">
                <a:solidFill>
                  <a:srgbClr val="E6EEE8"/>
                </a:solidFill>
              </a:rPr>
              <a:t>Google Bangla voice, SMS, keypad always works</a:t>
            </a:r>
            <a:endParaRPr lang="en-US" sz="1400" dirty="0"/>
          </a:p>
        </p:txBody>
      </p:sp>
      <p:sp>
        <p:nvSpPr>
          <p:cNvPr id="24" name="Text 17"/>
          <p:cNvSpPr txBox="1"/>
          <p:nvPr/>
        </p:nvSpPr>
        <p:spPr>
          <a:xfrm>
            <a:off x="548640" y="4681728"/>
            <a:ext cx="54864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WHY THIS DESIGN</a:t>
            </a:r>
            <a:endParaRPr lang="en-US" sz="1200" dirty="0"/>
          </a:p>
        </p:txBody>
      </p:sp>
      <p:sp>
        <p:nvSpPr>
          <p:cNvPr id="25" name="Text 18"/>
          <p:cNvSpPr txBox="1"/>
          <p:nvPr/>
        </p:nvSpPr>
        <p:spPr>
          <a:xfrm>
            <a:off x="548640" y="4983480"/>
            <a:ext cx="6766560" cy="1325880"/>
          </a:xfrm>
          <a:prstGeom prst="rect">
            <a:avLst/>
          </a:prstGeom>
          <a:noFill/>
          <a:ln/>
        </p:spPr>
        <p:txBody>
          <a:bodyPr wrap="square" lIns="0" tIns="0" rIns="0" bIns="0" rtlCol="0" anchor="t"/>
          <a:lstStyle/>
          <a:p>
            <a:pPr marL="0" indent="0">
              <a:spcAft>
                <a:spcPts val="300"/>
              </a:spcAft>
              <a:buNone/>
            </a:pPr>
            <a:r>
              <a:rPr lang="en-US" sz="1400" b="1" dirty="0">
                <a:solidFill>
                  <a:schemeClr val="bg1"/>
                </a:solidFill>
              </a:rPr>
              <a:t>He can't read an SMS: </a:t>
            </a:r>
            <a:r>
              <a:rPr lang="en-US" sz="1400" dirty="0">
                <a:solidFill>
                  <a:srgbClr val="D7E3DA"/>
                </a:solidFill>
              </a:rPr>
              <a:t>voice first, in his dialect; the keypad always works.</a:t>
            </a:r>
            <a:endParaRPr lang="en-US" sz="1400" dirty="0"/>
          </a:p>
          <a:p>
            <a:pPr marL="0" indent="0">
              <a:spcAft>
                <a:spcPts val="300"/>
              </a:spcAft>
              <a:buNone/>
            </a:pPr>
            <a:r>
              <a:rPr lang="en-US" sz="1400" b="1" dirty="0">
                <a:solidFill>
                  <a:schemeClr val="bg1"/>
                </a:solidFill>
              </a:rPr>
              <a:t>Money must be exact: </a:t>
            </a:r>
            <a:r>
              <a:rPr lang="en-US" sz="1400" dirty="0">
                <a:solidFill>
                  <a:srgbClr val="D7E3DA"/>
                </a:solidFill>
              </a:rPr>
              <a:t>a language model never sets a taka figure.</a:t>
            </a:r>
            <a:endParaRPr lang="en-US" sz="1400" dirty="0"/>
          </a:p>
          <a:p>
            <a:pPr marL="0" indent="0">
              <a:spcAft>
                <a:spcPts val="300"/>
              </a:spcAft>
              <a:buNone/>
            </a:pPr>
            <a:r>
              <a:rPr lang="en-US" sz="1400" b="1" dirty="0">
                <a:solidFill>
                  <a:schemeClr val="bg1"/>
                </a:solidFill>
              </a:rPr>
              <a:t>The future is uncertain: </a:t>
            </a:r>
            <a:r>
              <a:rPr lang="en-US" sz="1400" dirty="0">
                <a:solidFill>
                  <a:srgbClr val="D7E3DA"/>
                </a:solidFill>
              </a:rPr>
              <a:t>ranges from simulated paths, not one price.</a:t>
            </a:r>
            <a:endParaRPr lang="en-US" sz="1400" dirty="0"/>
          </a:p>
          <a:p>
            <a:pPr marL="0" indent="0">
              <a:spcAft>
                <a:spcPts val="300"/>
              </a:spcAft>
              <a:buNone/>
            </a:pPr>
            <a:r>
              <a:rPr lang="en-US" sz="1400" b="1" dirty="0">
                <a:solidFill>
                  <a:schemeClr val="bg1"/>
                </a:solidFill>
              </a:rPr>
              <a:t>Price data is thin: </a:t>
            </a:r>
            <a:r>
              <a:rPr lang="en-US" sz="1400" dirty="0">
                <a:solidFill>
                  <a:srgbClr val="D7E3DA"/>
                </a:solidFill>
              </a:rPr>
              <a:t>ML (XGBoost, LSTM) only once 15 years of DAM prices are backtested.</a:t>
            </a:r>
            <a:endParaRPr lang="en-US" sz="1400" dirty="0"/>
          </a:p>
        </p:txBody>
      </p:sp>
      <p:sp>
        <p:nvSpPr>
          <p:cNvPr id="26" name="Live demo card">
            <a:hlinkClick r:id="rId7" tooltip="Open the KrishiVault prototype"/>
          </p:cNvPr>
          <p:cNvSpPr/>
          <p:nvPr/>
        </p:nvSpPr>
        <p:spPr>
          <a:xfrm>
            <a:off x="7589520" y="4617720"/>
            <a:ext cx="4053535" cy="1600200"/>
          </a:xfrm>
          <a:prstGeom prst="rect">
            <a:avLst/>
          </a:prstGeom>
          <a:solidFill>
            <a:schemeClr val="accent1"/>
          </a:solidFill>
          <a:ln/>
          <a:effectLst>
            <a:outerShdw blurRad="88900" dist="25400" dir="5400000" algn="bl" rotWithShape="0">
              <a:srgbClr val="000000">
                <a:alpha val="35000"/>
              </a:srgbClr>
            </a:outerShdw>
          </a:effectLst>
        </p:spPr>
      </p:sp>
      <p:sp>
        <p:nvSpPr>
          <p:cNvPr id="27" name="Text 20"/>
          <p:cNvSpPr txBox="1"/>
          <p:nvPr/>
        </p:nvSpPr>
        <p:spPr>
          <a:xfrm>
            <a:off x="7818120" y="4736592"/>
            <a:ext cx="3657600" cy="256032"/>
          </a:xfrm>
          <a:prstGeom prst="rect">
            <a:avLst/>
          </a:prstGeom>
          <a:noFill/>
          <a:ln/>
        </p:spPr>
        <p:txBody>
          <a:bodyPr wrap="square" lIns="0" tIns="0" rIns="0" bIns="0" rtlCol="0" anchor="t"/>
          <a:lstStyle/>
          <a:p>
            <a:pPr marL="0" indent="0">
              <a:buNone/>
            </a:pPr>
            <a:r>
              <a:rPr lang="en-US" sz="1150" b="1" kern="0" spc="200" dirty="0">
                <a:solidFill>
                  <a:schemeClr val="tx2"/>
                </a:solidFill>
              </a:rPr>
              <a:t>LIVE NOW  ·  CLICK TO OPEN</a:t>
            </a:r>
            <a:endParaRPr lang="en-US" sz="1150" dirty="0"/>
          </a:p>
        </p:txBody>
      </p:sp>
      <p:sp>
        <p:nvSpPr>
          <p:cNvPr id="28" name="Demo link">
            <a:hlinkClick r:id="rId7" tooltip="Open the KrishiVault prototype"/>
          </p:cNvPr>
          <p:cNvSpPr txBox="1"/>
          <p:nvPr/>
        </p:nvSpPr>
        <p:spPr>
          <a:xfrm>
            <a:off x="7818120" y="4983480"/>
            <a:ext cx="3657600" cy="502920"/>
          </a:xfrm>
          <a:prstGeom prst="rect">
            <a:avLst/>
          </a:prstGeom>
          <a:noFill/>
          <a:ln/>
        </p:spPr>
        <p:txBody>
          <a:bodyPr wrap="square" lIns="0" tIns="0" rIns="0" bIns="0" rtlCol="0" anchor="t"/>
          <a:lstStyle/>
          <a:p>
            <a:pPr marL="0" indent="0">
              <a:buNone/>
            </a:pPr>
            <a:r>
              <a:rPr lang="en-US" sz="2800" b="1" dirty="0">
                <a:solidFill>
                  <a:schemeClr val="tx2"/>
                </a:solidFill>
                <a:latin typeface="Georgia" pitchFamily="34" charset="0"/>
                <a:ea typeface="Georgia" pitchFamily="34" charset="-122"/>
                <a:cs typeface="Georgia" pitchFamily="34" charset="-120"/>
              </a:rPr>
              <a:t>koryu.ninja</a:t>
            </a:r>
            <a:endParaRPr lang="en-US" sz="2800" dirty="0"/>
          </a:p>
        </p:txBody>
      </p:sp>
      <p:sp>
        <p:nvSpPr>
          <p:cNvPr id="29" name="Demo details">
            <a:hlinkClick r:id="rId7" tooltip="Open the KrishiVault prototype"/>
          </p:cNvPr>
          <p:cNvSpPr txBox="1"/>
          <p:nvPr/>
        </p:nvSpPr>
        <p:spPr>
          <a:xfrm>
            <a:off x="7818120" y="5532120"/>
            <a:ext cx="3611880" cy="566928"/>
          </a:xfrm>
          <a:prstGeom prst="rect">
            <a:avLst/>
          </a:prstGeom>
          <a:noFill/>
          <a:ln/>
        </p:spPr>
        <p:txBody>
          <a:bodyPr wrap="square" lIns="0" tIns="0" rIns="0" bIns="0" rtlCol="0" anchor="t"/>
          <a:lstStyle/>
          <a:p>
            <a:pPr marL="0" indent="0">
              <a:buNone/>
            </a:pPr>
            <a:r>
              <a:rPr lang="en-US" sz="1250" dirty="0">
                <a:solidFill>
                  <a:schemeClr val="tx2"/>
                </a:solidFill>
              </a:rPr>
              <a:t>Dashboard, voice call, USSD menu, real SMS and phone call. 160 tests pass.</a:t>
            </a:r>
            <a:endParaRPr lang="en-US" sz="1250" dirty="0"/>
          </a:p>
        </p:txBody>
      </p:sp>
      <p:sp>
        <p:nvSpPr>
          <p:cNvPr id="3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9BDB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PROOF  ·  FAIR REPLAYS, NO HINDSIGHT</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Tested on two real seasons it had never seen</a:t>
            </a:r>
            <a:endParaRPr lang="en-US" sz="3000" dirty="0"/>
          </a:p>
        </p:txBody>
      </p:sp>
      <p:sp>
        <p:nvSpPr>
          <p:cNvPr id="4" name="2024 replay card"/>
          <p:cNvSpPr/>
          <p:nvPr/>
        </p:nvSpPr>
        <p:spPr>
          <a:xfrm>
            <a:off x="548640" y="1783080"/>
            <a:ext cx="4160520" cy="40690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Text 3"/>
          <p:cNvSpPr txBox="1"/>
          <p:nvPr/>
        </p:nvSpPr>
        <p:spPr>
          <a:xfrm>
            <a:off x="822960" y="1938528"/>
            <a:ext cx="36576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MARCH 2024  ·  NORMAL CROP</a:t>
            </a:r>
            <a:endParaRPr lang="en-US" sz="1200" dirty="0"/>
          </a:p>
        </p:txBody>
      </p:sp>
      <p:sp>
        <p:nvSpPr>
          <p:cNvPr id="6" name="Text 4"/>
          <p:cNvSpPr txBox="1"/>
          <p:nvPr/>
        </p:nvSpPr>
        <p:spPr>
          <a:xfrm>
            <a:off x="822960" y="2240280"/>
            <a:ext cx="365760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11 sacks, store 25 until December”</a:t>
            </a:r>
            <a:endParaRPr lang="en-US" sz="1700" dirty="0"/>
          </a:p>
        </p:txBody>
      </p:sp>
      <p:graphicFrame>
        <p:nvGraphicFramePr>
          <p:cNvPr id="7" name="2024 net profit chart"/>
          <p:cNvGraphicFramePr/>
          <p:nvPr/>
        </p:nvGraphicFramePr>
        <p:xfrm>
          <a:off x="640080" y="2852928"/>
          <a:ext cx="26060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3246120" y="3063240"/>
            <a:ext cx="1371600" cy="731520"/>
          </a:xfrm>
          <a:prstGeom prst="rect">
            <a:avLst/>
          </a:prstGeom>
          <a:noFill/>
          <a:ln/>
        </p:spPr>
        <p:txBody>
          <a:bodyPr wrap="square" lIns="0" tIns="0" rIns="0" bIns="0" rtlCol="0" anchor="t"/>
          <a:lstStyle/>
          <a:p>
            <a:pPr marL="0" indent="0" algn="ctr">
              <a:buNone/>
            </a:pPr>
            <a:r>
              <a:rPr lang="en-US" sz="4400" b="1" dirty="0">
                <a:solidFill>
                  <a:schemeClr val="accent2"/>
                </a:solidFill>
                <a:latin typeface="Georgia" pitchFamily="34" charset="0"/>
                <a:ea typeface="Georgia" pitchFamily="34" charset="-122"/>
                <a:cs typeface="Georgia" pitchFamily="34" charset="-120"/>
              </a:rPr>
              <a:t>2.5×</a:t>
            </a:r>
            <a:endParaRPr lang="en-US" sz="4400" dirty="0"/>
          </a:p>
        </p:txBody>
      </p:sp>
      <p:sp>
        <p:nvSpPr>
          <p:cNvPr id="9" name="Text 6"/>
          <p:cNvSpPr txBox="1"/>
          <p:nvPr/>
        </p:nvSpPr>
        <p:spPr>
          <a:xfrm>
            <a:off x="3246120" y="3794760"/>
            <a:ext cx="1371600" cy="914400"/>
          </a:xfrm>
          <a:prstGeom prst="rect">
            <a:avLst/>
          </a:prstGeom>
          <a:noFill/>
          <a:ln/>
        </p:spPr>
        <p:txBody>
          <a:bodyPr wrap="square" lIns="0" tIns="0" rIns="0" bIns="0" rtlCol="0" anchor="t"/>
          <a:lstStyle/>
          <a:p>
            <a:pPr marL="0" indent="0" algn="ctr">
              <a:buNone/>
            </a:pPr>
            <a:r>
              <a:rPr lang="en-US" sz="1250" dirty="0">
                <a:solidFill>
                  <a:schemeClr val="tx1"/>
                </a:solidFill>
              </a:rPr>
              <a:t>net profit, after the ৳14 a kg growing cost</a:t>
            </a:r>
            <a:endParaRPr lang="en-US" sz="1250" dirty="0"/>
          </a:p>
        </p:txBody>
      </p:sp>
      <p:sp>
        <p:nvSpPr>
          <p:cNvPr id="10" name="2025 replay card"/>
          <p:cNvSpPr/>
          <p:nvPr/>
        </p:nvSpPr>
        <p:spPr>
          <a:xfrm>
            <a:off x="4937760" y="1783080"/>
            <a:ext cx="3657600" cy="40690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Text 8"/>
          <p:cNvSpPr txBox="1"/>
          <p:nvPr/>
        </p:nvSpPr>
        <p:spPr>
          <a:xfrm>
            <a:off x="5212080" y="1938528"/>
            <a:ext cx="320040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MARCH 2025  ·  BIG CROP</a:t>
            </a:r>
            <a:endParaRPr lang="en-US" sz="1200" dirty="0"/>
          </a:p>
        </p:txBody>
      </p:sp>
      <p:sp>
        <p:nvSpPr>
          <p:cNvPr id="12" name="Text 9"/>
          <p:cNvSpPr txBox="1"/>
          <p:nvPr/>
        </p:nvSpPr>
        <p:spPr>
          <a:xfrm>
            <a:off x="5212080" y="2240280"/>
            <a:ext cx="310896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now.”</a:t>
            </a:r>
            <a:endParaRPr lang="en-US" sz="1700" dirty="0"/>
          </a:p>
        </p:txBody>
      </p:sp>
      <p:sp>
        <p:nvSpPr>
          <p:cNvPr id="13" name="Text 10"/>
          <p:cNvSpPr txBox="1"/>
          <p:nvPr/>
        </p:nvSpPr>
        <p:spPr>
          <a:xfrm>
            <a:off x="5212080" y="2926080"/>
            <a:ext cx="3108960" cy="320040"/>
          </a:xfrm>
          <a:prstGeom prst="rect">
            <a:avLst/>
          </a:prstGeom>
          <a:noFill/>
          <a:ln/>
        </p:spPr>
        <p:txBody>
          <a:bodyPr wrap="square" lIns="0" tIns="0" rIns="0" bIns="0" rtlCol="0" anchor="t"/>
          <a:lstStyle/>
          <a:p>
            <a:pPr marL="0" indent="0">
              <a:buNone/>
            </a:pPr>
            <a:r>
              <a:rPr lang="en-US" sz="1400" dirty="0">
                <a:solidFill>
                  <a:schemeClr val="tx1"/>
                </a:solidFill>
              </a:rPr>
              <a:t>Storing all 36 sacks would have lost up to</a:t>
            </a:r>
            <a:endParaRPr lang="en-US" sz="1400" dirty="0"/>
          </a:p>
        </p:txBody>
      </p:sp>
      <p:sp>
        <p:nvSpPr>
          <p:cNvPr id="14" name="Text 11"/>
          <p:cNvSpPr txBox="1"/>
          <p:nvPr/>
        </p:nvSpPr>
        <p:spPr>
          <a:xfrm>
            <a:off x="5212080" y="3246120"/>
            <a:ext cx="3108960" cy="731520"/>
          </a:xfrm>
          <a:prstGeom prst="rect">
            <a:avLst/>
          </a:prstGeom>
          <a:noFill/>
          <a:ln/>
        </p:spPr>
        <p:txBody>
          <a:bodyPr wrap="square" lIns="0" tIns="0" rIns="0" bIns="0" rtlCol="0" anchor="t"/>
          <a:lstStyle/>
          <a:p>
            <a:pPr marL="0" indent="0">
              <a:buNone/>
            </a:pPr>
            <a:r>
              <a:rPr lang="en-US" sz="4000" b="1" dirty="0">
                <a:solidFill>
                  <a:schemeClr val="accent3"/>
                </a:solidFill>
                <a:latin typeface="Georgia" pitchFamily="34" charset="0"/>
                <a:ea typeface="Georgia" pitchFamily="34" charset="-122"/>
                <a:cs typeface="Georgia" pitchFamily="34" charset="-120"/>
              </a:rPr>
              <a:t>৳25,280</a:t>
            </a:r>
            <a:endParaRPr lang="en-US" sz="4000" dirty="0"/>
          </a:p>
        </p:txBody>
      </p:sp>
      <p:sp>
        <p:nvSpPr>
          <p:cNvPr id="15" name="Text 12"/>
          <p:cNvSpPr txBox="1"/>
          <p:nvPr/>
        </p:nvSpPr>
        <p:spPr>
          <a:xfrm>
            <a:off x="5212080" y="4023360"/>
            <a:ext cx="3108960" cy="731520"/>
          </a:xfrm>
          <a:prstGeom prst="rect">
            <a:avLst/>
          </a:prstGeom>
          <a:noFill/>
          <a:ln/>
        </p:spPr>
        <p:txBody>
          <a:bodyPr wrap="square" lIns="0" tIns="0" rIns="0" bIns="0" rtlCol="0" anchor="t"/>
          <a:lstStyle/>
          <a:p>
            <a:pPr marL="0" indent="0">
              <a:buNone/>
            </a:pPr>
            <a:r>
              <a:rPr lang="en-US" sz="1400" dirty="0">
                <a:solidFill>
                  <a:schemeClr val="tx1"/>
                </a:solidFill>
              </a:rPr>
              <a:t>and at least ৳17,110, whichever month he sold. The advice kept that loss out of his pocket.</a:t>
            </a:r>
            <a:endParaRPr lang="en-US" sz="1400" dirty="0"/>
          </a:p>
        </p:txBody>
      </p:sp>
      <p:sp>
        <p:nvSpPr>
          <p:cNvPr id="16" name="Trust note"/>
          <p:cNvSpPr/>
          <p:nvPr/>
        </p:nvSpPr>
        <p:spPr>
          <a:xfrm>
            <a:off x="5212080" y="4846320"/>
            <a:ext cx="3108960" cy="777240"/>
          </a:xfrm>
          <a:prstGeom prst="rect">
            <a:avLst/>
          </a:prstGeom>
          <a:solidFill>
            <a:schemeClr val="bg2"/>
          </a:solidFill>
          <a:ln w="9525">
            <a:solidFill>
              <a:srgbClr val="D9E2D6"/>
            </a:solidFill>
            <a:prstDash val="solid"/>
          </a:ln>
        </p:spPr>
      </p:sp>
      <p:sp>
        <p:nvSpPr>
          <p:cNvPr id="17" name="Text 14"/>
          <p:cNvSpPr txBox="1"/>
          <p:nvPr/>
        </p:nvSpPr>
        <p:spPr>
          <a:xfrm>
            <a:off x="5349240" y="4846320"/>
            <a:ext cx="2880360" cy="777240"/>
          </a:xfrm>
          <a:prstGeom prst="rect">
            <a:avLst/>
          </a:prstGeom>
          <a:noFill/>
          <a:ln/>
        </p:spPr>
        <p:txBody>
          <a:bodyPr wrap="square" lIns="0" tIns="0" rIns="0" bIns="0" rtlCol="0" anchor="ctr"/>
          <a:lstStyle/>
          <a:p>
            <a:pPr marL="0" indent="0">
              <a:buNone/>
            </a:pPr>
            <a:r>
              <a:rPr lang="en-US" sz="1250" i="1" dirty="0">
                <a:solidFill>
                  <a:schemeClr val="tx2"/>
                </a:solidFill>
              </a:rPr>
              <a:t>An advisor that says “don't store” when storing loses is one a farmer can trust.</a:t>
            </a:r>
            <a:endParaRPr lang="en-US" sz="1250" dirty="0"/>
          </a:p>
        </p:txBody>
      </p:sp>
      <p:sp>
        <p:nvSpPr>
          <p:cNvPr id="18" name="Backtest card"/>
          <p:cNvSpPr/>
          <p:nvPr/>
        </p:nvSpPr>
        <p:spPr>
          <a:xfrm>
            <a:off x="8823960" y="1783080"/>
            <a:ext cx="2819095" cy="4069080"/>
          </a:xfrm>
          <a:prstGeom prst="rect">
            <a:avLst/>
          </a:prstGeom>
          <a:solidFill>
            <a:schemeClr val="tx2"/>
          </a:solidFill>
          <a:ln/>
          <a:effectLst>
            <a:outerShdw blurRad="88900" dist="25400" dir="5400000" algn="bl" rotWithShape="0">
              <a:srgbClr val="000000">
                <a:alpha val="14000"/>
              </a:srgbClr>
            </a:outerShdw>
          </a:effectLst>
        </p:spPr>
      </p:sp>
      <p:sp>
        <p:nvSpPr>
          <p:cNvPr id="19" name="Text 16"/>
          <p:cNvSpPr txBox="1"/>
          <p:nvPr/>
        </p:nvSpPr>
        <p:spPr>
          <a:xfrm>
            <a:off x="9079992" y="1938528"/>
            <a:ext cx="2743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PRICE OUTLOOK BACKTEST</a:t>
            </a:r>
            <a:endParaRPr lang="en-US" sz="1200" dirty="0"/>
          </a:p>
        </p:txBody>
      </p:sp>
      <p:sp>
        <p:nvSpPr>
          <p:cNvPr id="20" name="Text 17"/>
          <p:cNvSpPr txBox="1"/>
          <p:nvPr/>
        </p:nvSpPr>
        <p:spPr>
          <a:xfrm>
            <a:off x="9079992" y="2331720"/>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11%</a:t>
            </a:r>
            <a:endParaRPr lang="en-US" sz="3000" dirty="0"/>
          </a:p>
        </p:txBody>
      </p:sp>
      <p:sp>
        <p:nvSpPr>
          <p:cNvPr id="21" name="Text 18"/>
          <p:cNvSpPr txBox="1"/>
          <p:nvPr/>
        </p:nvSpPr>
        <p:spPr>
          <a:xfrm>
            <a:off x="9079992" y="2862072"/>
            <a:ext cx="2697480" cy="548640"/>
          </a:xfrm>
          <a:prstGeom prst="rect">
            <a:avLst/>
          </a:prstGeom>
          <a:noFill/>
          <a:ln/>
        </p:spPr>
        <p:txBody>
          <a:bodyPr wrap="square" lIns="0" tIns="0" rIns="0" bIns="0" rtlCol="0" anchor="t"/>
          <a:lstStyle/>
          <a:p>
            <a:pPr marL="0" indent="0">
              <a:buNone/>
            </a:pPr>
            <a:r>
              <a:rPr lang="en-US" sz="1250" dirty="0">
                <a:solidFill>
                  <a:srgbClr val="E6EEE8"/>
                </a:solidFill>
              </a:rPr>
              <a:t>average price miss, against 52% for the usual seasonal pattern</a:t>
            </a:r>
            <a:endParaRPr lang="en-US" sz="1250" dirty="0"/>
          </a:p>
        </p:txBody>
      </p:sp>
      <p:sp>
        <p:nvSpPr>
          <p:cNvPr id="22" name="Text 19"/>
          <p:cNvSpPr txBox="1"/>
          <p:nvPr/>
        </p:nvSpPr>
        <p:spPr>
          <a:xfrm>
            <a:off x="9079992" y="3447288"/>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92%</a:t>
            </a:r>
            <a:endParaRPr lang="en-US" sz="3000" dirty="0"/>
          </a:p>
        </p:txBody>
      </p:sp>
      <p:sp>
        <p:nvSpPr>
          <p:cNvPr id="23" name="Text 20"/>
          <p:cNvSpPr txBox="1"/>
          <p:nvPr/>
        </p:nvSpPr>
        <p:spPr>
          <a:xfrm>
            <a:off x="9079992" y="3977640"/>
            <a:ext cx="2697480" cy="548640"/>
          </a:xfrm>
          <a:prstGeom prst="rect">
            <a:avLst/>
          </a:prstGeom>
          <a:noFill/>
          <a:ln/>
        </p:spPr>
        <p:txBody>
          <a:bodyPr wrap="square" lIns="0" tIns="0" rIns="0" bIns="0" rtlCol="0" anchor="t"/>
          <a:lstStyle/>
          <a:p>
            <a:pPr marL="0" indent="0">
              <a:buNone/>
            </a:pPr>
            <a:r>
              <a:rPr lang="en-US" sz="1250" dirty="0">
                <a:solidFill>
                  <a:srgbClr val="E6EEE8"/>
                </a:solidFill>
              </a:rPr>
              <a:t>of months inside its 8-in-10 range</a:t>
            </a:r>
            <a:endParaRPr lang="en-US" sz="1250" dirty="0"/>
          </a:p>
        </p:txBody>
      </p:sp>
      <p:sp>
        <p:nvSpPr>
          <p:cNvPr id="24" name="Text 21"/>
          <p:cNvSpPr txBox="1"/>
          <p:nvPr/>
        </p:nvSpPr>
        <p:spPr>
          <a:xfrm>
            <a:off x="9079992" y="4562856"/>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2 of 2</a:t>
            </a:r>
            <a:endParaRPr lang="en-US" sz="3000" dirty="0"/>
          </a:p>
        </p:txBody>
      </p:sp>
      <p:sp>
        <p:nvSpPr>
          <p:cNvPr id="25" name="Text 22"/>
          <p:cNvSpPr txBox="1"/>
          <p:nvPr/>
        </p:nvSpPr>
        <p:spPr>
          <a:xfrm>
            <a:off x="9079992" y="5093208"/>
            <a:ext cx="2697480" cy="548640"/>
          </a:xfrm>
          <a:prstGeom prst="rect">
            <a:avLst/>
          </a:prstGeom>
          <a:noFill/>
          <a:ln/>
        </p:spPr>
        <p:txBody>
          <a:bodyPr wrap="square" lIns="0" tIns="0" rIns="0" bIns="0" rtlCol="0" anchor="t"/>
          <a:lstStyle/>
          <a:p>
            <a:pPr marL="0" indent="0">
              <a:buNone/>
            </a:pPr>
            <a:r>
              <a:rPr lang="en-US" sz="1250" dirty="0">
                <a:solidFill>
                  <a:srgbClr val="E6EEE8"/>
                </a:solidFill>
              </a:rPr>
              <a:t>store-or-sell calls right</a:t>
            </a:r>
            <a:endParaRPr lang="en-US" sz="1250" dirty="0"/>
          </a:p>
        </p:txBody>
      </p:sp>
      <p:sp>
        <p:nvSpPr>
          <p:cNvPr id="26" name="Text 23"/>
          <p:cNvSpPr txBox="1"/>
          <p:nvPr/>
        </p:nvSpPr>
        <p:spPr>
          <a:xfrm>
            <a:off x="548640" y="5925312"/>
            <a:ext cx="11094415" cy="411480"/>
          </a:xfrm>
          <a:prstGeom prst="rect">
            <a:avLst/>
          </a:prstGeom>
          <a:noFill/>
          <a:ln/>
        </p:spPr>
        <p:txBody>
          <a:bodyPr wrap="square" lIns="0" tIns="0" rIns="0" bIns="0" rtlCol="0" anchor="t"/>
          <a:lstStyle/>
          <a:p>
            <a:pPr marL="0" indent="0">
              <a:buNone/>
            </a:pPr>
            <a:r>
              <a:rPr lang="en-US" sz="1050" dirty="0">
                <a:solidFill>
                  <a:schemeClr val="accent6"/>
                </a:solidFill>
              </a:rPr>
              <a:t>Engine replays: 36 sacks, ৳300 rent, 8.65% weight loss, ৳14/kg growing cost (DAE Bogura 2024-25), WFP retail prices. Two seasons is a first test, not proof: next, 15 years of DAM prices.</a:t>
            </a:r>
            <a:endParaRPr lang="en-US" sz="105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WHY KRISHIVAULT  ·  DIFFERENTIATION AND DEFENSIBILITY</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Others solve one piece. KrishiVault closes the loop.</a:t>
            </a:r>
            <a:endParaRPr lang="en-US" sz="3000" dirty="0"/>
          </a:p>
        </p:txBody>
      </p:sp>
      <p:sp>
        <p:nvSpPr>
          <p:cNvPr id="4" name="Comparison card"/>
          <p:cNvSpPr/>
          <p:nvPr/>
        </p:nvSpPr>
        <p:spPr>
          <a:xfrm>
            <a:off x="548640" y="1783080"/>
            <a:ext cx="7415784" cy="4050792"/>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KrishiVault column"/>
          <p:cNvSpPr/>
          <p:nvPr/>
        </p:nvSpPr>
        <p:spPr>
          <a:xfrm>
            <a:off x="6547104" y="1783080"/>
            <a:ext cx="1417320" cy="4050792"/>
          </a:xfrm>
          <a:prstGeom prst="rect">
            <a:avLst/>
          </a:prstGeom>
          <a:solidFill>
            <a:schemeClr val="accent1">
              <a:alpha val="18000"/>
            </a:schemeClr>
          </a:solidFill>
          <a:ln/>
        </p:spPr>
      </p:sp>
      <p:sp>
        <p:nvSpPr>
          <p:cNvPr id="6" name="Text 4"/>
          <p:cNvSpPr txBox="1"/>
          <p:nvPr/>
        </p:nvSpPr>
        <p:spPr>
          <a:xfrm>
            <a:off x="3063240"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Traders</a:t>
            </a:r>
            <a:endParaRPr lang="en-US" sz="1300" dirty="0"/>
          </a:p>
        </p:txBody>
      </p:sp>
      <p:sp>
        <p:nvSpPr>
          <p:cNvPr id="7" name="Text 5"/>
          <p:cNvSpPr txBox="1"/>
          <p:nvPr/>
        </p:nvSpPr>
        <p:spPr>
          <a:xfrm>
            <a:off x="4224528"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Price apps</a:t>
            </a:r>
            <a:endParaRPr lang="en-US" sz="1300" dirty="0"/>
          </a:p>
        </p:txBody>
      </p:sp>
      <p:sp>
        <p:nvSpPr>
          <p:cNvPr id="8" name="Text 6"/>
          <p:cNvSpPr txBox="1"/>
          <p:nvPr/>
        </p:nvSpPr>
        <p:spPr>
          <a:xfrm>
            <a:off x="5385816"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Banks, MFIs</a:t>
            </a:r>
            <a:endParaRPr lang="en-US" sz="1300" dirty="0"/>
          </a:p>
        </p:txBody>
      </p:sp>
      <p:sp>
        <p:nvSpPr>
          <p:cNvPr id="9" name="Text 7"/>
          <p:cNvSpPr txBox="1"/>
          <p:nvPr/>
        </p:nvSpPr>
        <p:spPr>
          <a:xfrm>
            <a:off x="6547104" y="1874520"/>
            <a:ext cx="1417320" cy="310896"/>
          </a:xfrm>
          <a:prstGeom prst="rect">
            <a:avLst/>
          </a:prstGeom>
          <a:noFill/>
          <a:ln/>
        </p:spPr>
        <p:txBody>
          <a:bodyPr wrap="square" lIns="0" tIns="0" rIns="0" bIns="0" rtlCol="0" anchor="ctr"/>
          <a:lstStyle/>
          <a:p>
            <a:pPr marL="0" indent="0" algn="ctr">
              <a:buNone/>
            </a:pPr>
            <a:r>
              <a:rPr lang="en-US" sz="1300" b="1" dirty="0">
                <a:solidFill>
                  <a:schemeClr val="tx2"/>
                </a:solidFill>
              </a:rPr>
              <a:t>KrishiVault</a:t>
            </a:r>
            <a:endParaRPr lang="en-US" sz="1300" dirty="0"/>
          </a:p>
        </p:txBody>
      </p:sp>
      <p:sp>
        <p:nvSpPr>
          <p:cNvPr id="10" name="Text 8"/>
          <p:cNvSpPr txBox="1"/>
          <p:nvPr/>
        </p:nvSpPr>
        <p:spPr>
          <a:xfrm>
            <a:off x="777240" y="2240280"/>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Cash at harvest without selling</a:t>
            </a:r>
            <a:endParaRPr lang="en-US" sz="1350" dirty="0"/>
          </a:p>
        </p:txBody>
      </p:sp>
      <p:pic>
        <p:nvPicPr>
          <p:cNvPr id="11" name="Image 0" descr="partly"/>
          <p:cNvPicPr>
            <a:picLocks noChangeAspect="1"/>
          </p:cNvPicPr>
          <p:nvPr/>
        </p:nvPicPr>
        <p:blipFill>
          <a:blip r:embed="rId3"/>
          <a:stretch>
            <a:fillRect/>
          </a:stretch>
        </p:blipFill>
        <p:spPr>
          <a:xfrm>
            <a:off x="3525012" y="2322576"/>
            <a:ext cx="237744" cy="237744"/>
          </a:xfrm>
          <a:prstGeom prst="rect">
            <a:avLst/>
          </a:prstGeom>
        </p:spPr>
      </p:pic>
      <p:sp>
        <p:nvSpPr>
          <p:cNvPr id="12" name="Text 9"/>
          <p:cNvSpPr txBox="1"/>
          <p:nvPr/>
        </p:nvSpPr>
        <p:spPr>
          <a:xfrm>
            <a:off x="3099816" y="258775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buys at the low</a:t>
            </a:r>
            <a:endParaRPr lang="en-US" sz="1050" dirty="0"/>
          </a:p>
        </p:txBody>
      </p:sp>
      <p:pic>
        <p:nvPicPr>
          <p:cNvPr id="13" name="Image 1" descr="no"/>
          <p:cNvPicPr>
            <a:picLocks noChangeAspect="1"/>
          </p:cNvPicPr>
          <p:nvPr/>
        </p:nvPicPr>
        <p:blipFill>
          <a:blip r:embed="rId4"/>
          <a:stretch>
            <a:fillRect/>
          </a:stretch>
        </p:blipFill>
        <p:spPr>
          <a:xfrm>
            <a:off x="4686300" y="2322576"/>
            <a:ext cx="237744" cy="237744"/>
          </a:xfrm>
          <a:prstGeom prst="rect">
            <a:avLst/>
          </a:prstGeom>
        </p:spPr>
      </p:pic>
      <p:pic>
        <p:nvPicPr>
          <p:cNvPr id="14" name="Image 2" descr="no"/>
          <p:cNvPicPr>
            <a:picLocks noChangeAspect="1"/>
          </p:cNvPicPr>
          <p:nvPr/>
        </p:nvPicPr>
        <p:blipFill>
          <a:blip r:embed="rId4"/>
          <a:stretch>
            <a:fillRect/>
          </a:stretch>
        </p:blipFill>
        <p:spPr>
          <a:xfrm>
            <a:off x="5847588" y="2322576"/>
            <a:ext cx="237744" cy="237744"/>
          </a:xfrm>
          <a:prstGeom prst="rect">
            <a:avLst/>
          </a:prstGeom>
        </p:spPr>
      </p:pic>
      <p:sp>
        <p:nvSpPr>
          <p:cNvPr id="15" name="Text 10"/>
          <p:cNvSpPr txBox="1"/>
          <p:nvPr/>
        </p:nvSpPr>
        <p:spPr>
          <a:xfrm>
            <a:off x="5422392" y="258775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wants land</a:t>
            </a:r>
            <a:endParaRPr lang="en-US" sz="1050" dirty="0"/>
          </a:p>
        </p:txBody>
      </p:sp>
      <p:pic>
        <p:nvPicPr>
          <p:cNvPr id="16" name="Image 3" descr="yes"/>
          <p:cNvPicPr>
            <a:picLocks noChangeAspect="1"/>
          </p:cNvPicPr>
          <p:nvPr/>
        </p:nvPicPr>
        <p:blipFill>
          <a:blip r:embed="rId5"/>
          <a:stretch>
            <a:fillRect/>
          </a:stretch>
        </p:blipFill>
        <p:spPr>
          <a:xfrm>
            <a:off x="7136892" y="2322576"/>
            <a:ext cx="237744" cy="237744"/>
          </a:xfrm>
          <a:prstGeom prst="rect">
            <a:avLst/>
          </a:prstGeom>
        </p:spPr>
      </p:pic>
      <p:sp>
        <p:nvSpPr>
          <p:cNvPr id="17" name="Text 11"/>
          <p:cNvSpPr txBox="1"/>
          <p:nvPr/>
        </p:nvSpPr>
        <p:spPr>
          <a:xfrm>
            <a:off x="6583680" y="2587752"/>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loan on the receipt</a:t>
            </a:r>
            <a:endParaRPr lang="en-US" sz="1050" dirty="0"/>
          </a:p>
        </p:txBody>
      </p:sp>
      <p:sp>
        <p:nvSpPr>
          <p:cNvPr id="18" name="Shape 12"/>
          <p:cNvSpPr/>
          <p:nvPr/>
        </p:nvSpPr>
        <p:spPr>
          <a:xfrm>
            <a:off x="731520" y="2944368"/>
            <a:ext cx="7050024" cy="0"/>
          </a:xfrm>
          <a:prstGeom prst="line">
            <a:avLst/>
          </a:prstGeom>
          <a:noFill/>
          <a:ln w="9525">
            <a:solidFill>
              <a:srgbClr val="E3E9E0"/>
            </a:solidFill>
            <a:prstDash val="solid"/>
          </a:ln>
        </p:spPr>
      </p:sp>
      <p:sp>
        <p:nvSpPr>
          <p:cNvPr id="19" name="Text 13"/>
          <p:cNvSpPr txBox="1"/>
          <p:nvPr/>
        </p:nvSpPr>
        <p:spPr>
          <a:xfrm>
            <a:off x="777240" y="2944368"/>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Price outlook, 1 to 9 months</a:t>
            </a:r>
            <a:endParaRPr lang="en-US" sz="1350" dirty="0"/>
          </a:p>
        </p:txBody>
      </p:sp>
      <p:pic>
        <p:nvPicPr>
          <p:cNvPr id="20" name="Image 4" descr="no"/>
          <p:cNvPicPr>
            <a:picLocks noChangeAspect="1"/>
          </p:cNvPicPr>
          <p:nvPr/>
        </p:nvPicPr>
        <p:blipFill>
          <a:blip r:embed="rId4"/>
          <a:stretch>
            <a:fillRect/>
          </a:stretch>
        </p:blipFill>
        <p:spPr>
          <a:xfrm>
            <a:off x="3525012" y="3026664"/>
            <a:ext cx="237744" cy="237744"/>
          </a:xfrm>
          <a:prstGeom prst="rect">
            <a:avLst/>
          </a:prstGeom>
        </p:spPr>
      </p:pic>
      <p:sp>
        <p:nvSpPr>
          <p:cNvPr id="21" name="Text 14"/>
          <p:cNvSpPr txBox="1"/>
          <p:nvPr/>
        </p:nvSpPr>
        <p:spPr>
          <a:xfrm>
            <a:off x="3099816" y="3291840"/>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keeps it private</a:t>
            </a:r>
            <a:endParaRPr lang="en-US" sz="1050" dirty="0"/>
          </a:p>
        </p:txBody>
      </p:sp>
      <p:pic>
        <p:nvPicPr>
          <p:cNvPr id="22" name="Image 5" descr="partly"/>
          <p:cNvPicPr>
            <a:picLocks noChangeAspect="1"/>
          </p:cNvPicPr>
          <p:nvPr/>
        </p:nvPicPr>
        <p:blipFill>
          <a:blip r:embed="rId3"/>
          <a:stretch>
            <a:fillRect/>
          </a:stretch>
        </p:blipFill>
        <p:spPr>
          <a:xfrm>
            <a:off x="4686300" y="3026664"/>
            <a:ext cx="237744" cy="237744"/>
          </a:xfrm>
          <a:prstGeom prst="rect">
            <a:avLst/>
          </a:prstGeom>
        </p:spPr>
      </p:pic>
      <p:sp>
        <p:nvSpPr>
          <p:cNvPr id="23" name="Text 15"/>
          <p:cNvSpPr txBox="1"/>
          <p:nvPr/>
        </p:nvSpPr>
        <p:spPr>
          <a:xfrm>
            <a:off x="4261104" y="3291840"/>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today's price</a:t>
            </a:r>
            <a:endParaRPr lang="en-US" sz="1050" dirty="0"/>
          </a:p>
        </p:txBody>
      </p:sp>
      <p:pic>
        <p:nvPicPr>
          <p:cNvPr id="24" name="Image 6" descr="no"/>
          <p:cNvPicPr>
            <a:picLocks noChangeAspect="1"/>
          </p:cNvPicPr>
          <p:nvPr/>
        </p:nvPicPr>
        <p:blipFill>
          <a:blip r:embed="rId4"/>
          <a:stretch>
            <a:fillRect/>
          </a:stretch>
        </p:blipFill>
        <p:spPr>
          <a:xfrm>
            <a:off x="5847588" y="3026664"/>
            <a:ext cx="237744" cy="237744"/>
          </a:xfrm>
          <a:prstGeom prst="rect">
            <a:avLst/>
          </a:prstGeom>
        </p:spPr>
      </p:pic>
      <p:pic>
        <p:nvPicPr>
          <p:cNvPr id="25" name="Image 7" descr="yes"/>
          <p:cNvPicPr>
            <a:picLocks noChangeAspect="1"/>
          </p:cNvPicPr>
          <p:nvPr/>
        </p:nvPicPr>
        <p:blipFill>
          <a:blip r:embed="rId5"/>
          <a:stretch>
            <a:fillRect/>
          </a:stretch>
        </p:blipFill>
        <p:spPr>
          <a:xfrm>
            <a:off x="7136892" y="3026664"/>
            <a:ext cx="237744" cy="237744"/>
          </a:xfrm>
          <a:prstGeom prst="rect">
            <a:avLst/>
          </a:prstGeom>
        </p:spPr>
      </p:pic>
      <p:sp>
        <p:nvSpPr>
          <p:cNvPr id="26" name="Text 16"/>
          <p:cNvSpPr txBox="1"/>
          <p:nvPr/>
        </p:nvSpPr>
        <p:spPr>
          <a:xfrm>
            <a:off x="6583680" y="3291840"/>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with a range</a:t>
            </a:r>
            <a:endParaRPr lang="en-US" sz="1050" dirty="0"/>
          </a:p>
        </p:txBody>
      </p:sp>
      <p:sp>
        <p:nvSpPr>
          <p:cNvPr id="27" name="Shape 17"/>
          <p:cNvSpPr/>
          <p:nvPr/>
        </p:nvSpPr>
        <p:spPr>
          <a:xfrm>
            <a:off x="731520" y="3648456"/>
            <a:ext cx="7050024" cy="0"/>
          </a:xfrm>
          <a:prstGeom prst="line">
            <a:avLst/>
          </a:prstGeom>
          <a:noFill/>
          <a:ln w="9525">
            <a:solidFill>
              <a:srgbClr val="E3E9E0"/>
            </a:solidFill>
            <a:prstDash val="solid"/>
          </a:ln>
        </p:spPr>
      </p:sp>
      <p:sp>
        <p:nvSpPr>
          <p:cNvPr id="28" name="Text 18"/>
          <p:cNvSpPr txBox="1"/>
          <p:nvPr/>
        </p:nvSpPr>
        <p:spPr>
          <a:xfrm>
            <a:off x="777240" y="3648456"/>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Store-or-sell sums after every cost</a:t>
            </a:r>
            <a:endParaRPr lang="en-US" sz="1350" dirty="0"/>
          </a:p>
        </p:txBody>
      </p:sp>
      <p:pic>
        <p:nvPicPr>
          <p:cNvPr id="29" name="Image 8" descr="no"/>
          <p:cNvPicPr>
            <a:picLocks noChangeAspect="1"/>
          </p:cNvPicPr>
          <p:nvPr/>
        </p:nvPicPr>
        <p:blipFill>
          <a:blip r:embed="rId4"/>
          <a:stretch>
            <a:fillRect/>
          </a:stretch>
        </p:blipFill>
        <p:spPr>
          <a:xfrm>
            <a:off x="3525012" y="3730752"/>
            <a:ext cx="237744" cy="237744"/>
          </a:xfrm>
          <a:prstGeom prst="rect">
            <a:avLst/>
          </a:prstGeom>
        </p:spPr>
      </p:pic>
      <p:pic>
        <p:nvPicPr>
          <p:cNvPr id="30" name="Image 9" descr="no"/>
          <p:cNvPicPr>
            <a:picLocks noChangeAspect="1"/>
          </p:cNvPicPr>
          <p:nvPr/>
        </p:nvPicPr>
        <p:blipFill>
          <a:blip r:embed="rId4"/>
          <a:stretch>
            <a:fillRect/>
          </a:stretch>
        </p:blipFill>
        <p:spPr>
          <a:xfrm>
            <a:off x="4686300" y="3730752"/>
            <a:ext cx="237744" cy="237744"/>
          </a:xfrm>
          <a:prstGeom prst="rect">
            <a:avLst/>
          </a:prstGeom>
        </p:spPr>
      </p:pic>
      <p:pic>
        <p:nvPicPr>
          <p:cNvPr id="31" name="Image 10" descr="no"/>
          <p:cNvPicPr>
            <a:picLocks noChangeAspect="1"/>
          </p:cNvPicPr>
          <p:nvPr/>
        </p:nvPicPr>
        <p:blipFill>
          <a:blip r:embed="rId4"/>
          <a:stretch>
            <a:fillRect/>
          </a:stretch>
        </p:blipFill>
        <p:spPr>
          <a:xfrm>
            <a:off x="5847588" y="3730752"/>
            <a:ext cx="237744" cy="237744"/>
          </a:xfrm>
          <a:prstGeom prst="rect">
            <a:avLst/>
          </a:prstGeom>
        </p:spPr>
      </p:pic>
      <p:pic>
        <p:nvPicPr>
          <p:cNvPr id="32" name="Image 11" descr="yes"/>
          <p:cNvPicPr>
            <a:picLocks noChangeAspect="1"/>
          </p:cNvPicPr>
          <p:nvPr/>
        </p:nvPicPr>
        <p:blipFill>
          <a:blip r:embed="rId5"/>
          <a:stretch>
            <a:fillRect/>
          </a:stretch>
        </p:blipFill>
        <p:spPr>
          <a:xfrm>
            <a:off x="7136892" y="3730752"/>
            <a:ext cx="237744" cy="237744"/>
          </a:xfrm>
          <a:prstGeom prst="rect">
            <a:avLst/>
          </a:prstGeom>
        </p:spPr>
      </p:pic>
      <p:sp>
        <p:nvSpPr>
          <p:cNvPr id="33" name="Text 19"/>
          <p:cNvSpPr txBox="1"/>
          <p:nvPr/>
        </p:nvSpPr>
        <p:spPr>
          <a:xfrm>
            <a:off x="6583680" y="3995928"/>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per sack, in taka</a:t>
            </a:r>
            <a:endParaRPr lang="en-US" sz="1050" dirty="0"/>
          </a:p>
        </p:txBody>
      </p:sp>
      <p:sp>
        <p:nvSpPr>
          <p:cNvPr id="34" name="Shape 20"/>
          <p:cNvSpPr/>
          <p:nvPr/>
        </p:nvSpPr>
        <p:spPr>
          <a:xfrm>
            <a:off x="731520" y="4352544"/>
            <a:ext cx="7050024" cy="0"/>
          </a:xfrm>
          <a:prstGeom prst="line">
            <a:avLst/>
          </a:prstGeom>
          <a:noFill/>
          <a:ln w="9525">
            <a:solidFill>
              <a:srgbClr val="E3E9E0"/>
            </a:solidFill>
            <a:prstDash val="solid"/>
          </a:ln>
        </p:spPr>
      </p:sp>
      <p:sp>
        <p:nvSpPr>
          <p:cNvPr id="35" name="Text 21"/>
          <p:cNvSpPr txBox="1"/>
          <p:nvPr/>
        </p:nvSpPr>
        <p:spPr>
          <a:xfrm>
            <a:off x="777240" y="4352544"/>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Verified stock in cold storage</a:t>
            </a:r>
            <a:endParaRPr lang="en-US" sz="1350" dirty="0"/>
          </a:p>
        </p:txBody>
      </p:sp>
      <p:pic>
        <p:nvPicPr>
          <p:cNvPr id="36" name="Image 12" descr="partly"/>
          <p:cNvPicPr>
            <a:picLocks noChangeAspect="1"/>
          </p:cNvPicPr>
          <p:nvPr/>
        </p:nvPicPr>
        <p:blipFill>
          <a:blip r:embed="rId3"/>
          <a:stretch>
            <a:fillRect/>
          </a:stretch>
        </p:blipFill>
        <p:spPr>
          <a:xfrm>
            <a:off x="3525012" y="4434840"/>
            <a:ext cx="237744" cy="237744"/>
          </a:xfrm>
          <a:prstGeom prst="rect">
            <a:avLst/>
          </a:prstGeom>
        </p:spPr>
      </p:pic>
      <p:sp>
        <p:nvSpPr>
          <p:cNvPr id="37" name="Text 22"/>
          <p:cNvSpPr txBox="1"/>
          <p:nvPr/>
        </p:nvSpPr>
        <p:spPr>
          <a:xfrm>
            <a:off x="3099816" y="4700016"/>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holds 97.6%</a:t>
            </a:r>
            <a:endParaRPr lang="en-US" sz="1050" dirty="0"/>
          </a:p>
        </p:txBody>
      </p:sp>
      <p:pic>
        <p:nvPicPr>
          <p:cNvPr id="38" name="Image 13" descr="no"/>
          <p:cNvPicPr>
            <a:picLocks noChangeAspect="1"/>
          </p:cNvPicPr>
          <p:nvPr/>
        </p:nvPicPr>
        <p:blipFill>
          <a:blip r:embed="rId4"/>
          <a:stretch>
            <a:fillRect/>
          </a:stretch>
        </p:blipFill>
        <p:spPr>
          <a:xfrm>
            <a:off x="4686300" y="4434840"/>
            <a:ext cx="237744" cy="237744"/>
          </a:xfrm>
          <a:prstGeom prst="rect">
            <a:avLst/>
          </a:prstGeom>
        </p:spPr>
      </p:pic>
      <p:pic>
        <p:nvPicPr>
          <p:cNvPr id="39" name="Image 14" descr="no"/>
          <p:cNvPicPr>
            <a:picLocks noChangeAspect="1"/>
          </p:cNvPicPr>
          <p:nvPr/>
        </p:nvPicPr>
        <p:blipFill>
          <a:blip r:embed="rId4"/>
          <a:stretch>
            <a:fillRect/>
          </a:stretch>
        </p:blipFill>
        <p:spPr>
          <a:xfrm>
            <a:off x="5847588" y="4434840"/>
            <a:ext cx="237744" cy="237744"/>
          </a:xfrm>
          <a:prstGeom prst="rect">
            <a:avLst/>
          </a:prstGeom>
        </p:spPr>
      </p:pic>
      <p:sp>
        <p:nvSpPr>
          <p:cNvPr id="40" name="Text 23"/>
          <p:cNvSpPr txBox="1"/>
          <p:nvPr/>
        </p:nvSpPr>
        <p:spPr>
          <a:xfrm>
            <a:off x="5422392" y="4700016"/>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can't check it</a:t>
            </a:r>
            <a:endParaRPr lang="en-US" sz="1050" dirty="0"/>
          </a:p>
        </p:txBody>
      </p:sp>
      <p:pic>
        <p:nvPicPr>
          <p:cNvPr id="41" name="Image 15" descr="yes"/>
          <p:cNvPicPr>
            <a:picLocks noChangeAspect="1"/>
          </p:cNvPicPr>
          <p:nvPr/>
        </p:nvPicPr>
        <p:blipFill>
          <a:blip r:embed="rId5"/>
          <a:stretch>
            <a:fillRect/>
          </a:stretch>
        </p:blipFill>
        <p:spPr>
          <a:xfrm>
            <a:off x="7136892" y="4434840"/>
            <a:ext cx="237744" cy="237744"/>
          </a:xfrm>
          <a:prstGeom prst="rect">
            <a:avLst/>
          </a:prstGeom>
        </p:spPr>
      </p:pic>
      <p:sp>
        <p:nvSpPr>
          <p:cNvPr id="42" name="Text 24"/>
          <p:cNvSpPr txBox="1"/>
          <p:nvPr/>
        </p:nvSpPr>
        <p:spPr>
          <a:xfrm>
            <a:off x="6583680" y="4700016"/>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digital receipt</a:t>
            </a:r>
            <a:endParaRPr lang="en-US" sz="1050" dirty="0"/>
          </a:p>
        </p:txBody>
      </p:sp>
      <p:sp>
        <p:nvSpPr>
          <p:cNvPr id="43" name="Shape 25"/>
          <p:cNvSpPr/>
          <p:nvPr/>
        </p:nvSpPr>
        <p:spPr>
          <a:xfrm>
            <a:off x="731520" y="5056632"/>
            <a:ext cx="7050024" cy="0"/>
          </a:xfrm>
          <a:prstGeom prst="line">
            <a:avLst/>
          </a:prstGeom>
          <a:noFill/>
          <a:ln w="9525">
            <a:solidFill>
              <a:srgbClr val="E3E9E0"/>
            </a:solidFill>
            <a:prstDash val="solid"/>
          </a:ln>
        </p:spPr>
      </p:sp>
      <p:sp>
        <p:nvSpPr>
          <p:cNvPr id="44" name="Text 26"/>
          <p:cNvSpPr txBox="1"/>
          <p:nvPr/>
        </p:nvSpPr>
        <p:spPr>
          <a:xfrm>
            <a:off x="777240" y="5056632"/>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Works on a button phone, in Bangla</a:t>
            </a:r>
            <a:endParaRPr lang="en-US" sz="1350" dirty="0"/>
          </a:p>
        </p:txBody>
      </p:sp>
      <p:pic>
        <p:nvPicPr>
          <p:cNvPr id="45" name="Image 16" descr="yes"/>
          <p:cNvPicPr>
            <a:picLocks noChangeAspect="1"/>
          </p:cNvPicPr>
          <p:nvPr/>
        </p:nvPicPr>
        <p:blipFill>
          <a:blip r:embed="rId5"/>
          <a:stretch>
            <a:fillRect/>
          </a:stretch>
        </p:blipFill>
        <p:spPr>
          <a:xfrm>
            <a:off x="3525012" y="5138928"/>
            <a:ext cx="237744" cy="237744"/>
          </a:xfrm>
          <a:prstGeom prst="rect">
            <a:avLst/>
          </a:prstGeom>
        </p:spPr>
      </p:pic>
      <p:sp>
        <p:nvSpPr>
          <p:cNvPr id="46" name="Text 27"/>
          <p:cNvSpPr txBox="1"/>
          <p:nvPr/>
        </p:nvSpPr>
        <p:spPr>
          <a:xfrm>
            <a:off x="3099816"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in person</a:t>
            </a:r>
            <a:endParaRPr lang="en-US" sz="1050" dirty="0"/>
          </a:p>
        </p:txBody>
      </p:sp>
      <p:pic>
        <p:nvPicPr>
          <p:cNvPr id="47" name="Image 17" descr="no"/>
          <p:cNvPicPr>
            <a:picLocks noChangeAspect="1"/>
          </p:cNvPicPr>
          <p:nvPr/>
        </p:nvPicPr>
        <p:blipFill>
          <a:blip r:embed="rId4"/>
          <a:stretch>
            <a:fillRect/>
          </a:stretch>
        </p:blipFill>
        <p:spPr>
          <a:xfrm>
            <a:off x="4686300" y="5138928"/>
            <a:ext cx="237744" cy="237744"/>
          </a:xfrm>
          <a:prstGeom prst="rect">
            <a:avLst/>
          </a:prstGeom>
        </p:spPr>
      </p:pic>
      <p:sp>
        <p:nvSpPr>
          <p:cNvPr id="48" name="Text 28"/>
          <p:cNvSpPr txBox="1"/>
          <p:nvPr/>
        </p:nvSpPr>
        <p:spPr>
          <a:xfrm>
            <a:off x="4261104"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smartphone</a:t>
            </a:r>
            <a:endParaRPr lang="en-US" sz="1050" dirty="0"/>
          </a:p>
        </p:txBody>
      </p:sp>
      <p:pic>
        <p:nvPicPr>
          <p:cNvPr id="49" name="Image 18" descr="no"/>
          <p:cNvPicPr>
            <a:picLocks noChangeAspect="1"/>
          </p:cNvPicPr>
          <p:nvPr/>
        </p:nvPicPr>
        <p:blipFill>
          <a:blip r:embed="rId4"/>
          <a:stretch>
            <a:fillRect/>
          </a:stretch>
        </p:blipFill>
        <p:spPr>
          <a:xfrm>
            <a:off x="5847588" y="5138928"/>
            <a:ext cx="237744" cy="237744"/>
          </a:xfrm>
          <a:prstGeom prst="rect">
            <a:avLst/>
          </a:prstGeom>
        </p:spPr>
      </p:pic>
      <p:sp>
        <p:nvSpPr>
          <p:cNvPr id="50" name="Text 29"/>
          <p:cNvSpPr txBox="1"/>
          <p:nvPr/>
        </p:nvSpPr>
        <p:spPr>
          <a:xfrm>
            <a:off x="5422392"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branch visit</a:t>
            </a:r>
            <a:endParaRPr lang="en-US" sz="1050" dirty="0"/>
          </a:p>
        </p:txBody>
      </p:sp>
      <p:pic>
        <p:nvPicPr>
          <p:cNvPr id="51" name="Image 19" descr="yes"/>
          <p:cNvPicPr>
            <a:picLocks noChangeAspect="1"/>
          </p:cNvPicPr>
          <p:nvPr/>
        </p:nvPicPr>
        <p:blipFill>
          <a:blip r:embed="rId5"/>
          <a:stretch>
            <a:fillRect/>
          </a:stretch>
        </p:blipFill>
        <p:spPr>
          <a:xfrm>
            <a:off x="7136892" y="5138928"/>
            <a:ext cx="237744" cy="237744"/>
          </a:xfrm>
          <a:prstGeom prst="rect">
            <a:avLst/>
          </a:prstGeom>
        </p:spPr>
      </p:pic>
      <p:sp>
        <p:nvSpPr>
          <p:cNvPr id="52" name="Text 30"/>
          <p:cNvSpPr txBox="1"/>
          <p:nvPr/>
        </p:nvSpPr>
        <p:spPr>
          <a:xfrm>
            <a:off x="6583680" y="5404104"/>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voice, USSD, SMS</a:t>
            </a:r>
            <a:endParaRPr lang="en-US" sz="1050" dirty="0"/>
          </a:p>
        </p:txBody>
      </p:sp>
      <p:sp>
        <p:nvSpPr>
          <p:cNvPr id="53" name="Text 31"/>
          <p:cNvSpPr txBox="1"/>
          <p:nvPr/>
        </p:nvSpPr>
        <p:spPr>
          <a:xfrm>
            <a:off x="8238744" y="1801368"/>
            <a:ext cx="3404311"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WHY IT IS HARD TO COPY</a:t>
            </a:r>
            <a:endParaRPr lang="en-US" sz="1200" dirty="0"/>
          </a:p>
        </p:txBody>
      </p:sp>
      <p:sp>
        <p:nvSpPr>
          <p:cNvPr id="54" name="LuRoute tile"/>
          <p:cNvSpPr/>
          <p:nvPr/>
        </p:nvSpPr>
        <p:spPr>
          <a:xfrm>
            <a:off x="8238744" y="2240280"/>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55" name="Image 20" descr="LuRoute"/>
          <p:cNvPicPr>
            <a:picLocks noChangeAspect="1"/>
          </p:cNvPicPr>
          <p:nvPr/>
        </p:nvPicPr>
        <p:blipFill>
          <a:blip r:embed="rId6"/>
          <a:stretch>
            <a:fillRect/>
          </a:stretch>
        </p:blipFill>
        <p:spPr>
          <a:xfrm>
            <a:off x="8339328" y="2340864"/>
            <a:ext cx="256032" cy="256032"/>
          </a:xfrm>
          <a:prstGeom prst="rect">
            <a:avLst/>
          </a:prstGeom>
        </p:spPr>
      </p:pic>
      <p:sp>
        <p:nvSpPr>
          <p:cNvPr id="56" name="Text 33"/>
          <p:cNvSpPr txBox="1"/>
          <p:nvPr/>
        </p:nvSpPr>
        <p:spPr>
          <a:xfrm>
            <a:off x="8860536" y="2194560"/>
            <a:ext cx="2782519" cy="292608"/>
          </a:xfrm>
          <a:prstGeom prst="rect">
            <a:avLst/>
          </a:prstGeom>
          <a:noFill/>
          <a:ln/>
        </p:spPr>
        <p:txBody>
          <a:bodyPr wrap="square" lIns="0" tIns="0" rIns="0" bIns="0" rtlCol="0" anchor="t"/>
          <a:lstStyle/>
          <a:p>
            <a:pPr marL="0" indent="0">
              <a:buNone/>
            </a:pPr>
            <a:r>
              <a:rPr lang="en-US" sz="1500" b="1" dirty="0">
                <a:solidFill>
                  <a:schemeClr val="tx2"/>
                </a:solidFill>
              </a:rPr>
              <a:t>The loop is the product</a:t>
            </a:r>
            <a:endParaRPr lang="en-US" sz="1500" dirty="0"/>
          </a:p>
        </p:txBody>
      </p:sp>
      <p:sp>
        <p:nvSpPr>
          <p:cNvPr id="57" name="Text 34"/>
          <p:cNvSpPr txBox="1"/>
          <p:nvPr/>
        </p:nvSpPr>
        <p:spPr>
          <a:xfrm>
            <a:off x="8860536" y="2496312"/>
            <a:ext cx="2782519" cy="566928"/>
          </a:xfrm>
          <a:prstGeom prst="rect">
            <a:avLst/>
          </a:prstGeom>
          <a:noFill/>
          <a:ln/>
        </p:spPr>
        <p:txBody>
          <a:bodyPr wrap="square" lIns="0" tIns="0" rIns="0" bIns="0" rtlCol="0" anchor="t"/>
          <a:lstStyle/>
          <a:p>
            <a:pPr marL="0" indent="0">
              <a:buNone/>
            </a:pPr>
            <a:r>
              <a:rPr lang="en-US" sz="1250" dirty="0">
                <a:solidFill>
                  <a:schemeClr val="tx1"/>
                </a:solidFill>
              </a:rPr>
              <a:t>Sums, receipt, loan, alert, split at sale. One piece alone does not break the trap.</a:t>
            </a:r>
            <a:endParaRPr lang="en-US" sz="1250" dirty="0"/>
          </a:p>
        </p:txBody>
      </p:sp>
      <p:sp>
        <p:nvSpPr>
          <p:cNvPr id="58" name="LuHandshake tile"/>
          <p:cNvSpPr/>
          <p:nvPr/>
        </p:nvSpPr>
        <p:spPr>
          <a:xfrm>
            <a:off x="8238744" y="3172968"/>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59" name="Image 21" descr="LuHandshake"/>
          <p:cNvPicPr>
            <a:picLocks noChangeAspect="1"/>
          </p:cNvPicPr>
          <p:nvPr/>
        </p:nvPicPr>
        <p:blipFill>
          <a:blip r:embed="rId7"/>
          <a:stretch>
            <a:fillRect/>
          </a:stretch>
        </p:blipFill>
        <p:spPr>
          <a:xfrm>
            <a:off x="8339328" y="3273552"/>
            <a:ext cx="256032" cy="256032"/>
          </a:xfrm>
          <a:prstGeom prst="rect">
            <a:avLst/>
          </a:prstGeom>
        </p:spPr>
      </p:pic>
      <p:sp>
        <p:nvSpPr>
          <p:cNvPr id="60" name="Text 36"/>
          <p:cNvSpPr txBox="1"/>
          <p:nvPr/>
        </p:nvSpPr>
        <p:spPr>
          <a:xfrm>
            <a:off x="8860536" y="3127248"/>
            <a:ext cx="2782519" cy="292608"/>
          </a:xfrm>
          <a:prstGeom prst="rect">
            <a:avLst/>
          </a:prstGeom>
          <a:noFill/>
          <a:ln/>
        </p:spPr>
        <p:txBody>
          <a:bodyPr wrap="square" lIns="0" tIns="0" rIns="0" bIns="0" rtlCol="0" anchor="t"/>
          <a:lstStyle/>
          <a:p>
            <a:pPr marL="0" indent="0">
              <a:buNone/>
            </a:pPr>
            <a:r>
              <a:rPr lang="en-US" sz="1500" b="1" dirty="0">
                <a:solidFill>
                  <a:schemeClr val="tx2"/>
                </a:solidFill>
              </a:rPr>
              <a:t>Both sides are paid to stay</a:t>
            </a:r>
            <a:endParaRPr lang="en-US" sz="1500" dirty="0"/>
          </a:p>
        </p:txBody>
      </p:sp>
      <p:sp>
        <p:nvSpPr>
          <p:cNvPr id="61" name="Text 37"/>
          <p:cNvSpPr txBox="1"/>
          <p:nvPr/>
        </p:nvSpPr>
        <p:spPr>
          <a:xfrm>
            <a:off x="8860536" y="3429000"/>
            <a:ext cx="2782519" cy="566928"/>
          </a:xfrm>
          <a:prstGeom prst="rect">
            <a:avLst/>
          </a:prstGeom>
          <a:noFill/>
          <a:ln/>
        </p:spPr>
        <p:txBody>
          <a:bodyPr wrap="square" lIns="0" tIns="0" rIns="0" bIns="0" rtlCol="0" anchor="t"/>
          <a:lstStyle/>
          <a:p>
            <a:pPr marL="0" indent="0">
              <a:buNone/>
            </a:pPr>
            <a:r>
              <a:rPr lang="en-US" sz="1250" dirty="0">
                <a:solidFill>
                  <a:schemeClr val="tx1"/>
                </a:solidFill>
              </a:rPr>
              <a:t>Cold storages fill space; banks get stock they can check.</a:t>
            </a:r>
            <a:endParaRPr lang="en-US" sz="1250" dirty="0"/>
          </a:p>
        </p:txBody>
      </p:sp>
      <p:sp>
        <p:nvSpPr>
          <p:cNvPr id="62" name="LuShieldCheck tile"/>
          <p:cNvSpPr/>
          <p:nvPr/>
        </p:nvSpPr>
        <p:spPr>
          <a:xfrm>
            <a:off x="8238744" y="4105656"/>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63" name="Image 22" descr="LuShieldCheck"/>
          <p:cNvPicPr>
            <a:picLocks noChangeAspect="1"/>
          </p:cNvPicPr>
          <p:nvPr/>
        </p:nvPicPr>
        <p:blipFill>
          <a:blip r:embed="rId8"/>
          <a:stretch>
            <a:fillRect/>
          </a:stretch>
        </p:blipFill>
        <p:spPr>
          <a:xfrm>
            <a:off x="8339328" y="4206240"/>
            <a:ext cx="256032" cy="256032"/>
          </a:xfrm>
          <a:prstGeom prst="rect">
            <a:avLst/>
          </a:prstGeom>
        </p:spPr>
      </p:pic>
      <p:sp>
        <p:nvSpPr>
          <p:cNvPr id="64" name="Text 39"/>
          <p:cNvSpPr txBox="1"/>
          <p:nvPr/>
        </p:nvSpPr>
        <p:spPr>
          <a:xfrm>
            <a:off x="8860536" y="4059936"/>
            <a:ext cx="2782519" cy="292608"/>
          </a:xfrm>
          <a:prstGeom prst="rect">
            <a:avLst/>
          </a:prstGeom>
          <a:noFill/>
          <a:ln/>
        </p:spPr>
        <p:txBody>
          <a:bodyPr wrap="square" lIns="0" tIns="0" rIns="0" bIns="0" rtlCol="0" anchor="t"/>
          <a:lstStyle/>
          <a:p>
            <a:pPr marL="0" indent="0">
              <a:buNone/>
            </a:pPr>
            <a:r>
              <a:rPr lang="en-US" sz="1500" b="1" dirty="0">
                <a:solidFill>
                  <a:schemeClr val="tx2"/>
                </a:solidFill>
              </a:rPr>
              <a:t>Trust built into the code</a:t>
            </a:r>
            <a:endParaRPr lang="en-US" sz="1500" dirty="0"/>
          </a:p>
        </p:txBody>
      </p:sp>
      <p:sp>
        <p:nvSpPr>
          <p:cNvPr id="65" name="Text 40"/>
          <p:cNvSpPr txBox="1"/>
          <p:nvPr/>
        </p:nvSpPr>
        <p:spPr>
          <a:xfrm>
            <a:off x="8860536" y="4361688"/>
            <a:ext cx="2782519" cy="566928"/>
          </a:xfrm>
          <a:prstGeom prst="rect">
            <a:avLst/>
          </a:prstGeom>
          <a:noFill/>
          <a:ln/>
        </p:spPr>
        <p:txBody>
          <a:bodyPr wrap="square" lIns="0" tIns="0" rIns="0" bIns="0" rtlCol="0" anchor="t"/>
          <a:lstStyle/>
          <a:p>
            <a:pPr marL="0" indent="0">
              <a:buNone/>
            </a:pPr>
            <a:r>
              <a:rPr lang="en-US" sz="1250" dirty="0">
                <a:solidFill>
                  <a:schemeClr val="tx1"/>
                </a:solidFill>
              </a:rPr>
              <a:t>Ranges, the bad case said aloud, the number lock.</a:t>
            </a:r>
            <a:endParaRPr lang="en-US" sz="1250" dirty="0"/>
          </a:p>
        </p:txBody>
      </p:sp>
      <p:sp>
        <p:nvSpPr>
          <p:cNvPr id="66" name="LuDatabase tile"/>
          <p:cNvSpPr/>
          <p:nvPr/>
        </p:nvSpPr>
        <p:spPr>
          <a:xfrm>
            <a:off x="8238744" y="5038344"/>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67" name="Image 23" descr="LuDatabase"/>
          <p:cNvPicPr>
            <a:picLocks noChangeAspect="1"/>
          </p:cNvPicPr>
          <p:nvPr/>
        </p:nvPicPr>
        <p:blipFill>
          <a:blip r:embed="rId9"/>
          <a:stretch>
            <a:fillRect/>
          </a:stretch>
        </p:blipFill>
        <p:spPr>
          <a:xfrm>
            <a:off x="8339328" y="5138928"/>
            <a:ext cx="256032" cy="256032"/>
          </a:xfrm>
          <a:prstGeom prst="rect">
            <a:avLst/>
          </a:prstGeom>
        </p:spPr>
      </p:pic>
      <p:sp>
        <p:nvSpPr>
          <p:cNvPr id="68" name="Text 42"/>
          <p:cNvSpPr txBox="1"/>
          <p:nvPr/>
        </p:nvSpPr>
        <p:spPr>
          <a:xfrm>
            <a:off x="8860536" y="4992624"/>
            <a:ext cx="2782519" cy="292608"/>
          </a:xfrm>
          <a:prstGeom prst="rect">
            <a:avLst/>
          </a:prstGeom>
          <a:noFill/>
          <a:ln/>
        </p:spPr>
        <p:txBody>
          <a:bodyPr wrap="square" lIns="0" tIns="0" rIns="0" bIns="0" rtlCol="0" anchor="t"/>
          <a:lstStyle/>
          <a:p>
            <a:pPr marL="0" indent="0">
              <a:buNone/>
            </a:pPr>
            <a:r>
              <a:rPr lang="en-US" sz="1500" b="1" dirty="0">
                <a:solidFill>
                  <a:schemeClr val="tx2"/>
                </a:solidFill>
              </a:rPr>
              <a:t>Data that compounds</a:t>
            </a:r>
            <a:endParaRPr lang="en-US" sz="1500" dirty="0"/>
          </a:p>
        </p:txBody>
      </p:sp>
      <p:sp>
        <p:nvSpPr>
          <p:cNvPr id="69" name="Text 43"/>
          <p:cNvSpPr txBox="1"/>
          <p:nvPr/>
        </p:nvSpPr>
        <p:spPr>
          <a:xfrm>
            <a:off x="8860536" y="5294376"/>
            <a:ext cx="2782519" cy="566928"/>
          </a:xfrm>
          <a:prstGeom prst="rect">
            <a:avLst/>
          </a:prstGeom>
          <a:noFill/>
          <a:ln/>
        </p:spPr>
        <p:txBody>
          <a:bodyPr wrap="square" lIns="0" tIns="0" rIns="0" bIns="0" rtlCol="0" anchor="t"/>
          <a:lstStyle/>
          <a:p>
            <a:pPr marL="0" indent="0">
              <a:buNone/>
            </a:pPr>
            <a:r>
              <a:rPr lang="en-US" sz="1250" dirty="0">
                <a:solidFill>
                  <a:schemeClr val="tx1"/>
                </a:solidFill>
              </a:rPr>
              <a:t>Every consented call adds district data nobody else has.</a:t>
            </a:r>
            <a:endParaRPr lang="en-US" sz="1250" dirty="0"/>
          </a:p>
        </p:txBody>
      </p:sp>
      <p:sp>
        <p:nvSpPr>
          <p:cNvPr id="70" name="Text 44"/>
          <p:cNvSpPr txBox="1"/>
          <p:nvPr/>
        </p:nvSpPr>
        <p:spPr>
          <a:xfrm>
            <a:off x="548640" y="5943600"/>
            <a:ext cx="11094415" cy="365760"/>
          </a:xfrm>
          <a:prstGeom prst="rect">
            <a:avLst/>
          </a:prstGeom>
          <a:noFill/>
          <a:ln/>
        </p:spPr>
        <p:txBody>
          <a:bodyPr wrap="square" lIns="0" tIns="0" rIns="0" bIns="0" rtlCol="0" anchor="t"/>
          <a:lstStyle/>
          <a:p>
            <a:pPr marL="0" indent="0">
              <a:buNone/>
            </a:pPr>
            <a:r>
              <a:rPr lang="en-US" sz="1250" i="1" dirty="0">
                <a:solidFill>
                  <a:schemeClr val="accent6"/>
                </a:solidFill>
              </a:rPr>
              <a:t>Warehouse-receipt lending already lets farmers wait in India (Arya.ag). Bangladesh has the cold storages; KrishiVault adds the sums, the receipt and the phone.</a:t>
            </a:r>
            <a:endParaRPr lang="en-US" sz="1250" dirty="0"/>
          </a:p>
        </p:txBody>
      </p:sp>
      <p:sp>
        <p:nvSpPr>
          <p:cNvPr id="71"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EXECUTION  ·  SCALE  ·  BUSINESS MODEL</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Pilot in Kahaloo next harvest. Break even in year two.</a:t>
            </a:r>
            <a:endParaRPr lang="en-US" sz="3000" dirty="0"/>
          </a:p>
        </p:txBody>
      </p:sp>
      <p:sp>
        <p:nvSpPr>
          <p:cNvPr id="4" name="Phase 1"/>
          <p:cNvSpPr/>
          <p:nvPr/>
        </p:nvSpPr>
        <p:spPr>
          <a:xfrm>
            <a:off x="548640" y="1783080"/>
            <a:ext cx="3575304" cy="1463040"/>
          </a:xfrm>
          <a:prstGeom prst="rect">
            <a:avLst/>
          </a:prstGeom>
          <a:solidFill>
            <a:schemeClr val="tx2"/>
          </a:solidFill>
          <a:ln/>
          <a:effectLst>
            <a:outerShdw blurRad="88900" dist="25400" dir="5400000" algn="bl" rotWithShape="0">
              <a:srgbClr val="000000">
                <a:alpha val="14000"/>
              </a:srgbClr>
            </a:outerShdw>
          </a:effectLst>
        </p:spPr>
      </p:sp>
      <p:sp>
        <p:nvSpPr>
          <p:cNvPr id="5" name="Text 3"/>
          <p:cNvSpPr txBox="1"/>
          <p:nvPr/>
        </p:nvSpPr>
        <p:spPr>
          <a:xfrm>
            <a:off x="804672" y="1901952"/>
            <a:ext cx="3118104" cy="256032"/>
          </a:xfrm>
          <a:prstGeom prst="rect">
            <a:avLst/>
          </a:prstGeom>
          <a:noFill/>
          <a:ln/>
        </p:spPr>
        <p:txBody>
          <a:bodyPr wrap="square" lIns="0" tIns="0" rIns="0" bIns="0" rtlCol="0" anchor="t"/>
          <a:lstStyle/>
          <a:p>
            <a:pPr marL="0" indent="0">
              <a:buNone/>
            </a:pPr>
            <a:r>
              <a:rPr lang="en-US" sz="1150" b="1" kern="0" spc="200" dirty="0">
                <a:solidFill>
                  <a:schemeClr val="accent1"/>
                </a:solidFill>
              </a:rPr>
              <a:t>PHASE 1  ·  MONTHS 1–4</a:t>
            </a:r>
            <a:endParaRPr lang="en-US" sz="1150" dirty="0"/>
          </a:p>
        </p:txBody>
      </p:sp>
      <p:sp>
        <p:nvSpPr>
          <p:cNvPr id="6" name="Text 4"/>
          <p:cNvSpPr txBox="1"/>
          <p:nvPr/>
        </p:nvSpPr>
        <p:spPr>
          <a:xfrm>
            <a:off x="804672" y="2176272"/>
            <a:ext cx="3118104" cy="365760"/>
          </a:xfrm>
          <a:prstGeom prst="rect">
            <a:avLst/>
          </a:prstGeom>
          <a:noFill/>
          <a:ln/>
        </p:spPr>
        <p:txBody>
          <a:bodyPr wrap="square" lIns="0" tIns="0" rIns="0" bIns="0" rtlCol="0" anchor="t"/>
          <a:lstStyle/>
          <a:p>
            <a:pPr marL="0" indent="0">
              <a:buNone/>
            </a:pPr>
            <a:r>
              <a:rPr lang="en-US" sz="1900" b="1" dirty="0">
                <a:solidFill>
                  <a:schemeClr val="bg1"/>
                </a:solidFill>
                <a:latin typeface="Georgia" pitchFamily="34" charset="0"/>
                <a:ea typeface="Georgia" pitchFamily="34" charset="-122"/>
                <a:cs typeface="Georgia" pitchFamily="34" charset="-120"/>
              </a:rPr>
              <a:t>Kahaloo, Bogura</a:t>
            </a:r>
            <a:endParaRPr lang="en-US" sz="1900" dirty="0"/>
          </a:p>
        </p:txBody>
      </p:sp>
      <p:sp>
        <p:nvSpPr>
          <p:cNvPr id="7" name="Text 5"/>
          <p:cNvSpPr txBox="1"/>
          <p:nvPr/>
        </p:nvSpPr>
        <p:spPr>
          <a:xfrm>
            <a:off x="804672" y="2560320"/>
            <a:ext cx="3118104" cy="640080"/>
          </a:xfrm>
          <a:prstGeom prst="rect">
            <a:avLst/>
          </a:prstGeom>
          <a:noFill/>
          <a:ln/>
        </p:spPr>
        <p:txBody>
          <a:bodyPr wrap="square" lIns="0" tIns="0" rIns="0" bIns="0" rtlCol="0" anchor="t"/>
          <a:lstStyle/>
          <a:p>
            <a:pPr marL="0" indent="0">
              <a:buNone/>
            </a:pPr>
            <a:r>
              <a:rPr lang="en-US" sz="1300" dirty="0">
                <a:solidFill>
                  <a:srgbClr val="E6EEE8"/>
                </a:solidFill>
              </a:rPr>
              <a:t>50–100 farmers, 1–2 cold storages, 1 lender. First 100 tonnes of crop-backed loans.</a:t>
            </a:r>
            <a:endParaRPr lang="en-US" sz="1300" dirty="0"/>
          </a:p>
        </p:txBody>
      </p:sp>
      <p:pic>
        <p:nvPicPr>
          <p:cNvPr id="8" name="Image 0" descr="then"/>
          <p:cNvPicPr>
            <a:picLocks noChangeAspect="1"/>
          </p:cNvPicPr>
          <p:nvPr/>
        </p:nvPicPr>
        <p:blipFill>
          <a:blip r:embed="rId3"/>
          <a:stretch>
            <a:fillRect/>
          </a:stretch>
        </p:blipFill>
        <p:spPr>
          <a:xfrm>
            <a:off x="4105656" y="2395728"/>
            <a:ext cx="219456" cy="219456"/>
          </a:xfrm>
          <a:prstGeom prst="rect">
            <a:avLst/>
          </a:prstGeom>
        </p:spPr>
      </p:pic>
      <p:sp>
        <p:nvSpPr>
          <p:cNvPr id="9" name="Phase 2"/>
          <p:cNvSpPr/>
          <p:nvPr/>
        </p:nvSpPr>
        <p:spPr>
          <a:xfrm>
            <a:off x="4306824" y="1783080"/>
            <a:ext cx="3575304" cy="146304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0" name="Text 7"/>
          <p:cNvSpPr txBox="1"/>
          <p:nvPr/>
        </p:nvSpPr>
        <p:spPr>
          <a:xfrm>
            <a:off x="4562856" y="1901952"/>
            <a:ext cx="3118104"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2  ·  MONTHS 5–12</a:t>
            </a:r>
            <a:endParaRPr lang="en-US" sz="1150" dirty="0"/>
          </a:p>
        </p:txBody>
      </p:sp>
      <p:sp>
        <p:nvSpPr>
          <p:cNvPr id="11" name="Text 8"/>
          <p:cNvSpPr txBox="1"/>
          <p:nvPr/>
        </p:nvSpPr>
        <p:spPr>
          <a:xfrm>
            <a:off x="4562856" y="2176272"/>
            <a:ext cx="3118104"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Bogura + Munshiganj</a:t>
            </a:r>
            <a:endParaRPr lang="en-US" sz="1900" dirty="0"/>
          </a:p>
        </p:txBody>
      </p:sp>
      <p:sp>
        <p:nvSpPr>
          <p:cNvPr id="12" name="Text 9"/>
          <p:cNvSpPr txBox="1"/>
          <p:nvPr/>
        </p:nvSpPr>
        <p:spPr>
          <a:xfrm>
            <a:off x="4562856" y="2560320"/>
            <a:ext cx="3118104" cy="640080"/>
          </a:xfrm>
          <a:prstGeom prst="rect">
            <a:avLst/>
          </a:prstGeom>
          <a:noFill/>
          <a:ln/>
        </p:spPr>
        <p:txBody>
          <a:bodyPr wrap="square" lIns="0" tIns="0" rIns="0" bIns="0" rtlCol="0" anchor="t"/>
          <a:lstStyle/>
          <a:p>
            <a:pPr marL="0" indent="0">
              <a:buNone/>
            </a:pPr>
            <a:r>
              <a:rPr lang="en-US" sz="1300" dirty="0">
                <a:solidFill>
                  <a:schemeClr val="tx1"/>
                </a:solidFill>
              </a:rPr>
              <a:t>1,000+ farmers, 10 cold storages, group storage and buyer lots.</a:t>
            </a:r>
            <a:endParaRPr lang="en-US" sz="1300" dirty="0"/>
          </a:p>
        </p:txBody>
      </p:sp>
      <p:pic>
        <p:nvPicPr>
          <p:cNvPr id="13" name="Image 1" descr="then"/>
          <p:cNvPicPr>
            <a:picLocks noChangeAspect="1"/>
          </p:cNvPicPr>
          <p:nvPr/>
        </p:nvPicPr>
        <p:blipFill>
          <a:blip r:embed="rId3"/>
          <a:stretch>
            <a:fillRect/>
          </a:stretch>
        </p:blipFill>
        <p:spPr>
          <a:xfrm>
            <a:off x="7863840" y="2395728"/>
            <a:ext cx="219456" cy="219456"/>
          </a:xfrm>
          <a:prstGeom prst="rect">
            <a:avLst/>
          </a:prstGeom>
        </p:spPr>
      </p:pic>
      <p:sp>
        <p:nvSpPr>
          <p:cNvPr id="14" name="Phase 3"/>
          <p:cNvSpPr/>
          <p:nvPr/>
        </p:nvSpPr>
        <p:spPr>
          <a:xfrm>
            <a:off x="8065008" y="1783080"/>
            <a:ext cx="3575304" cy="146304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5" name="Text 11"/>
          <p:cNvSpPr txBox="1"/>
          <p:nvPr/>
        </p:nvSpPr>
        <p:spPr>
          <a:xfrm>
            <a:off x="8321040" y="1901952"/>
            <a:ext cx="3118104"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3  ·  YEAR 2 ON</a:t>
            </a:r>
            <a:endParaRPr lang="en-US" sz="1150" dirty="0"/>
          </a:p>
        </p:txBody>
      </p:sp>
      <p:sp>
        <p:nvSpPr>
          <p:cNvPr id="16" name="Text 12"/>
          <p:cNvSpPr txBox="1"/>
          <p:nvPr/>
        </p:nvSpPr>
        <p:spPr>
          <a:xfrm>
            <a:off x="8321040" y="2176272"/>
            <a:ext cx="3118104"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National</a:t>
            </a:r>
            <a:endParaRPr lang="en-US" sz="1900" dirty="0"/>
          </a:p>
        </p:txBody>
      </p:sp>
      <p:sp>
        <p:nvSpPr>
          <p:cNvPr id="17" name="Text 13"/>
          <p:cNvSpPr txBox="1"/>
          <p:nvPr/>
        </p:nvSpPr>
        <p:spPr>
          <a:xfrm>
            <a:off x="8321040" y="2560320"/>
            <a:ext cx="3118104" cy="640080"/>
          </a:xfrm>
          <a:prstGeom prst="rect">
            <a:avLst/>
          </a:prstGeom>
          <a:noFill/>
          <a:ln/>
        </p:spPr>
        <p:txBody>
          <a:bodyPr wrap="square" lIns="0" tIns="0" rIns="0" bIns="0" rtlCol="0" anchor="t"/>
          <a:lstStyle/>
          <a:p>
            <a:pPr marL="0" indent="0">
              <a:buNone/>
            </a:pPr>
            <a:r>
              <a:rPr lang="en-US" sz="1300" dirty="0">
                <a:solidFill>
                  <a:schemeClr val="tx1"/>
                </a:solidFill>
              </a:rPr>
              <a:t>Rangpur, Dinajpur, Cumilla, Thakurgaon. Onion and maize; export market.</a:t>
            </a:r>
            <a:endParaRPr lang="en-US" sz="1300" dirty="0"/>
          </a:p>
        </p:txBody>
      </p:sp>
      <p:sp>
        <p:nvSpPr>
          <p:cNvPr id="18" name="Who pays card"/>
          <p:cNvSpPr/>
          <p:nvPr/>
        </p:nvSpPr>
        <p:spPr>
          <a:xfrm>
            <a:off x="548640" y="3429000"/>
            <a:ext cx="397764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9" name="Text 15"/>
          <p:cNvSpPr txBox="1"/>
          <p:nvPr/>
        </p:nvSpPr>
        <p:spPr>
          <a:xfrm>
            <a:off x="804672" y="3566160"/>
            <a:ext cx="365760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WHO PAYS: NEVER THE FARMER</a:t>
            </a:r>
            <a:endParaRPr lang="en-US" sz="1200" dirty="0"/>
          </a:p>
        </p:txBody>
      </p:sp>
      <p:sp>
        <p:nvSpPr>
          <p:cNvPr id="20" name="Text 16"/>
          <p:cNvSpPr txBox="1"/>
          <p:nvPr/>
        </p:nvSpPr>
        <p:spPr>
          <a:xfrm>
            <a:off x="804672" y="3931920"/>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Cold storage</a:t>
            </a:r>
            <a:endParaRPr lang="en-US" sz="1300" dirty="0"/>
          </a:p>
        </p:txBody>
      </p:sp>
      <p:sp>
        <p:nvSpPr>
          <p:cNvPr id="21" name="Text 17"/>
          <p:cNvSpPr txBox="1"/>
          <p:nvPr/>
        </p:nvSpPr>
        <p:spPr>
          <a:xfrm>
            <a:off x="1993392" y="3931920"/>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4% of rent</a:t>
            </a:r>
            <a:endParaRPr lang="en-US" sz="1200" dirty="0"/>
          </a:p>
        </p:txBody>
      </p:sp>
      <p:sp>
        <p:nvSpPr>
          <p:cNvPr id="22" name="Text 18"/>
          <p:cNvSpPr txBox="1"/>
          <p:nvPr/>
        </p:nvSpPr>
        <p:spPr>
          <a:xfrm>
            <a:off x="3246120" y="3931920"/>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23" name="Text 19"/>
          <p:cNvSpPr txBox="1"/>
          <p:nvPr/>
        </p:nvSpPr>
        <p:spPr>
          <a:xfrm>
            <a:off x="804672" y="4361688"/>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Bank or MFI</a:t>
            </a:r>
            <a:endParaRPr lang="en-US" sz="1300" dirty="0"/>
          </a:p>
        </p:txBody>
      </p:sp>
      <p:sp>
        <p:nvSpPr>
          <p:cNvPr id="24" name="Text 20"/>
          <p:cNvSpPr txBox="1"/>
          <p:nvPr/>
        </p:nvSpPr>
        <p:spPr>
          <a:xfrm>
            <a:off x="1993392" y="4361688"/>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1.5% of loan</a:t>
            </a:r>
            <a:endParaRPr lang="en-US" sz="1200" dirty="0"/>
          </a:p>
        </p:txBody>
      </p:sp>
      <p:sp>
        <p:nvSpPr>
          <p:cNvPr id="25" name="Text 21"/>
          <p:cNvSpPr txBox="1"/>
          <p:nvPr/>
        </p:nvSpPr>
        <p:spPr>
          <a:xfrm>
            <a:off x="3246120" y="4361688"/>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৳4.50 / sack</a:t>
            </a:r>
            <a:endParaRPr lang="en-US" sz="1300" dirty="0"/>
          </a:p>
        </p:txBody>
      </p:sp>
      <p:sp>
        <p:nvSpPr>
          <p:cNvPr id="26" name="Text 22"/>
          <p:cNvSpPr txBox="1"/>
          <p:nvPr/>
        </p:nvSpPr>
        <p:spPr>
          <a:xfrm>
            <a:off x="804672" y="4791456"/>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Buyer</a:t>
            </a:r>
            <a:endParaRPr lang="en-US" sz="1300" dirty="0"/>
          </a:p>
        </p:txBody>
      </p:sp>
      <p:sp>
        <p:nvSpPr>
          <p:cNvPr id="27" name="Text 23"/>
          <p:cNvSpPr txBox="1"/>
          <p:nvPr/>
        </p:nvSpPr>
        <p:spPr>
          <a:xfrm>
            <a:off x="1993392" y="4791456"/>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1% sourcing fee</a:t>
            </a:r>
            <a:endParaRPr lang="en-US" sz="1200" dirty="0"/>
          </a:p>
        </p:txBody>
      </p:sp>
      <p:sp>
        <p:nvSpPr>
          <p:cNvPr id="28" name="Text 24"/>
          <p:cNvSpPr txBox="1"/>
          <p:nvPr/>
        </p:nvSpPr>
        <p:spPr>
          <a:xfrm>
            <a:off x="3246120" y="4791456"/>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29" name="Text 25"/>
          <p:cNvSpPr txBox="1"/>
          <p:nvPr/>
        </p:nvSpPr>
        <p:spPr>
          <a:xfrm>
            <a:off x="804672" y="5221224"/>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Grameenphone</a:t>
            </a:r>
            <a:endParaRPr lang="en-US" sz="1300" dirty="0"/>
          </a:p>
        </p:txBody>
      </p:sp>
      <p:sp>
        <p:nvSpPr>
          <p:cNvPr id="30" name="Text 26"/>
          <p:cNvSpPr txBox="1"/>
          <p:nvPr/>
        </p:nvSpPr>
        <p:spPr>
          <a:xfrm>
            <a:off x="1993392" y="5221224"/>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call revenue share</a:t>
            </a:r>
            <a:endParaRPr lang="en-US" sz="1200" dirty="0"/>
          </a:p>
        </p:txBody>
      </p:sp>
      <p:sp>
        <p:nvSpPr>
          <p:cNvPr id="31" name="Text 27"/>
          <p:cNvSpPr txBox="1"/>
          <p:nvPr/>
        </p:nvSpPr>
        <p:spPr>
          <a:xfrm>
            <a:off x="3246120" y="5221224"/>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≈৳30 / farmer</a:t>
            </a:r>
            <a:endParaRPr lang="en-US" sz="1300" dirty="0"/>
          </a:p>
        </p:txBody>
      </p:sp>
      <p:sp>
        <p:nvSpPr>
          <p:cNvPr id="32" name="Text 28"/>
          <p:cNvSpPr txBox="1"/>
          <p:nvPr/>
        </p:nvSpPr>
        <p:spPr>
          <a:xfrm>
            <a:off x="804672" y="5650992"/>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Govt, media</a:t>
            </a:r>
            <a:endParaRPr lang="en-US" sz="1300" dirty="0"/>
          </a:p>
        </p:txBody>
      </p:sp>
      <p:sp>
        <p:nvSpPr>
          <p:cNvPr id="33" name="Text 29"/>
          <p:cNvSpPr txBox="1"/>
          <p:nvPr/>
        </p:nvSpPr>
        <p:spPr>
          <a:xfrm>
            <a:off x="1993392" y="5650992"/>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glut and stock data</a:t>
            </a:r>
            <a:endParaRPr lang="en-US" sz="1200" dirty="0"/>
          </a:p>
        </p:txBody>
      </p:sp>
      <p:sp>
        <p:nvSpPr>
          <p:cNvPr id="34" name="Text 30"/>
          <p:cNvSpPr txBox="1"/>
          <p:nvPr/>
        </p:nvSpPr>
        <p:spPr>
          <a:xfrm>
            <a:off x="3246120" y="5650992"/>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subscription</a:t>
            </a:r>
            <a:endParaRPr lang="en-US" sz="1300" dirty="0"/>
          </a:p>
        </p:txBody>
      </p:sp>
      <p:sp>
        <p:nvSpPr>
          <p:cNvPr id="35" name="Projection card"/>
          <p:cNvSpPr/>
          <p:nvPr/>
        </p:nvSpPr>
        <p:spPr>
          <a:xfrm>
            <a:off x="4754880" y="3429000"/>
            <a:ext cx="393192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6" name="Text 32"/>
          <p:cNvSpPr txBox="1"/>
          <p:nvPr/>
        </p:nvSpPr>
        <p:spPr>
          <a:xfrm>
            <a:off x="5010912" y="3566160"/>
            <a:ext cx="347472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PROJECTION, ৳ LAKH</a:t>
            </a:r>
            <a:endParaRPr lang="en-US" sz="1200" dirty="0"/>
          </a:p>
        </p:txBody>
      </p:sp>
      <p:graphicFrame>
        <p:nvGraphicFramePr>
          <p:cNvPr id="37" name="Projection chart"/>
          <p:cNvGraphicFramePr/>
          <p:nvPr/>
        </p:nvGraphicFramePr>
        <p:xfrm>
          <a:off x="4846320" y="3840480"/>
          <a:ext cx="374904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38" name="Ask card"/>
          <p:cNvSpPr/>
          <p:nvPr/>
        </p:nvSpPr>
        <p:spPr>
          <a:xfrm>
            <a:off x="8915400" y="3429000"/>
            <a:ext cx="2727655" cy="2743200"/>
          </a:xfrm>
          <a:prstGeom prst="rect">
            <a:avLst/>
          </a:prstGeom>
          <a:solidFill>
            <a:schemeClr val="tx2"/>
          </a:solidFill>
          <a:ln/>
          <a:effectLst>
            <a:outerShdw blurRad="88900" dist="25400" dir="5400000" algn="bl" rotWithShape="0">
              <a:srgbClr val="000000">
                <a:alpha val="14000"/>
              </a:srgbClr>
            </a:outerShdw>
          </a:effectLst>
        </p:spPr>
      </p:sp>
      <p:sp>
        <p:nvSpPr>
          <p:cNvPr id="39" name="Text 34"/>
          <p:cNvSpPr txBox="1"/>
          <p:nvPr/>
        </p:nvSpPr>
        <p:spPr>
          <a:xfrm>
            <a:off x="9171432" y="3566160"/>
            <a:ext cx="2270455"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TO START</a:t>
            </a:r>
            <a:endParaRPr lang="en-US" sz="1200" dirty="0"/>
          </a:p>
        </p:txBody>
      </p:sp>
      <p:sp>
        <p:nvSpPr>
          <p:cNvPr id="40" name="Text 35"/>
          <p:cNvSpPr txBox="1"/>
          <p:nvPr/>
        </p:nvSpPr>
        <p:spPr>
          <a:xfrm>
            <a:off x="9171432" y="3840480"/>
            <a:ext cx="2270455" cy="640080"/>
          </a:xfrm>
          <a:prstGeom prst="rect">
            <a:avLst/>
          </a:prstGeom>
          <a:noFill/>
          <a:ln/>
        </p:spPr>
        <p:txBody>
          <a:bodyPr wrap="square" lIns="0" tIns="0" rIns="0" bIns="0" rtlCol="0" anchor="t"/>
          <a:lstStyle/>
          <a:p>
            <a:pPr marL="0" indent="0">
              <a:buNone/>
            </a:pPr>
            <a:r>
              <a:rPr lang="en-US" sz="3400" b="1" dirty="0">
                <a:solidFill>
                  <a:schemeClr val="accent1"/>
                </a:solidFill>
                <a:latin typeface="Georgia" pitchFamily="34" charset="0"/>
                <a:ea typeface="Georgia" pitchFamily="34" charset="-122"/>
                <a:cs typeface="Georgia" pitchFamily="34" charset="-120"/>
              </a:rPr>
              <a:t>৳20 lakh</a:t>
            </a:r>
            <a:endParaRPr lang="en-US" sz="3400" dirty="0"/>
          </a:p>
        </p:txBody>
      </p:sp>
      <p:sp>
        <p:nvSpPr>
          <p:cNvPr id="41" name="Text 36"/>
          <p:cNvSpPr txBox="1"/>
          <p:nvPr/>
        </p:nvSpPr>
        <p:spPr>
          <a:xfrm>
            <a:off x="9171432" y="4526280"/>
            <a:ext cx="2361895" cy="1600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Year 1: 2,000 farmers, 5 cold storages</a:t>
            </a:r>
            <a:endParaRPr lang="en-US" sz="1300" dirty="0"/>
          </a:p>
          <a:p>
            <a:pPr marL="177800" indent="-177800">
              <a:spcAft>
                <a:spcPts val="600"/>
              </a:spcAft>
              <a:buSzPct val="100000"/>
              <a:buChar char="•"/>
            </a:pPr>
            <a:r>
              <a:rPr lang="en-US" sz="1300" dirty="0">
                <a:solidFill>
                  <a:schemeClr val="bg1"/>
                </a:solidFill>
              </a:rPr>
              <a:t>Break-even: month 14–16</a:t>
            </a:r>
            <a:endParaRPr lang="en-US" sz="1300" dirty="0"/>
          </a:p>
          <a:p>
            <a:pPr marL="177800" indent="-177800">
              <a:spcAft>
                <a:spcPts val="600"/>
              </a:spcAft>
              <a:buSzPct val="100000"/>
              <a:buChar char="•"/>
            </a:pPr>
            <a:r>
              <a:rPr lang="en-US" sz="1300" dirty="0">
                <a:solidFill>
                  <a:schemeClr val="bg1"/>
                </a:solidFill>
              </a:rPr>
              <a:t>No storage to build, no money lent</a:t>
            </a:r>
            <a:endParaRPr lang="en-US" sz="1300" dirty="0"/>
          </a:p>
        </p:txBody>
      </p:sp>
      <p:sp>
        <p:nvSpPr>
          <p:cNvPr id="4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IMPACT  ·  AI FOR SOCIAL GOOD</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When farmers can wait, the whole chain gets fairer</a:t>
            </a:r>
            <a:endParaRPr lang="en-US" sz="3000" dirty="0"/>
          </a:p>
        </p:txBody>
      </p:sp>
      <p:sp>
        <p:nvSpPr>
          <p:cNvPr id="4" name="Impact 1"/>
          <p:cNvSpPr/>
          <p:nvPr/>
        </p:nvSpPr>
        <p:spPr>
          <a:xfrm>
            <a:off x="548640"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LuWallet tile"/>
          <p:cNvSpPr/>
          <p:nvPr/>
        </p:nvSpPr>
        <p:spPr>
          <a:xfrm>
            <a:off x="804672"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6" name="Image 0" descr="LuWallet"/>
          <p:cNvPicPr>
            <a:picLocks noChangeAspect="1"/>
          </p:cNvPicPr>
          <p:nvPr/>
        </p:nvPicPr>
        <p:blipFill>
          <a:blip r:embed="rId3"/>
          <a:stretch>
            <a:fillRect/>
          </a:stretch>
        </p:blipFill>
        <p:spPr>
          <a:xfrm>
            <a:off x="929396" y="2154692"/>
            <a:ext cx="317480" cy="317480"/>
          </a:xfrm>
          <a:prstGeom prst="rect">
            <a:avLst/>
          </a:prstGeom>
        </p:spPr>
      </p:pic>
      <p:sp>
        <p:nvSpPr>
          <p:cNvPr id="7" name="Text 4"/>
          <p:cNvSpPr txBox="1"/>
          <p:nvPr/>
        </p:nvSpPr>
        <p:spPr>
          <a:xfrm>
            <a:off x="804672"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FARMER INCOME</a:t>
            </a:r>
            <a:endParaRPr lang="en-US" sz="1150" dirty="0"/>
          </a:p>
        </p:txBody>
      </p:sp>
      <p:sp>
        <p:nvSpPr>
          <p:cNvPr id="8" name="Text 5"/>
          <p:cNvSpPr txBox="1"/>
          <p:nvPr/>
        </p:nvSpPr>
        <p:spPr>
          <a:xfrm>
            <a:off x="804672" y="3017520"/>
            <a:ext cx="2221992" cy="566928"/>
          </a:xfrm>
          <a:prstGeom prst="rect">
            <a:avLst/>
          </a:prstGeom>
          <a:noFill/>
          <a:ln/>
        </p:spPr>
        <p:txBody>
          <a:bodyPr wrap="square" lIns="0" tIns="0" rIns="0" bIns="0" rtlCol="0" anchor="ctr">
            <a:normAutofit/>
          </a:bodyPr>
          <a:lstStyle/>
          <a:p>
            <a:pPr marL="0" indent="0">
              <a:buNone/>
            </a:pPr>
            <a:r>
              <a:rPr lang="en-US" sz="3000" b="1" dirty="0">
                <a:solidFill>
                  <a:schemeClr val="tx2"/>
                </a:solidFill>
                <a:latin typeface="Georgia" pitchFamily="34" charset="0"/>
                <a:ea typeface="Georgia" pitchFamily="34" charset="-122"/>
                <a:cs typeface="Georgia" pitchFamily="34" charset="-120"/>
              </a:rPr>
              <a:t>2.5×</a:t>
            </a:r>
            <a:endParaRPr lang="en-US" sz="3000" dirty="0"/>
          </a:p>
        </p:txBody>
      </p:sp>
      <p:sp>
        <p:nvSpPr>
          <p:cNvPr id="9" name="Text 6"/>
          <p:cNvSpPr txBox="1"/>
          <p:nvPr/>
        </p:nvSpPr>
        <p:spPr>
          <a:xfrm>
            <a:off x="804672"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net profit in a normal year (2024 replay), and no storage loss in a glut year</a:t>
            </a:r>
            <a:endParaRPr lang="en-US" sz="1450" dirty="0"/>
          </a:p>
        </p:txBody>
      </p:sp>
      <p:sp>
        <p:nvSpPr>
          <p:cNvPr id="10" name="Impact 2"/>
          <p:cNvSpPr/>
          <p:nvPr/>
        </p:nvSpPr>
        <p:spPr>
          <a:xfrm>
            <a:off x="3364992"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LuTrendingUp tile"/>
          <p:cNvSpPr/>
          <p:nvPr/>
        </p:nvSpPr>
        <p:spPr>
          <a:xfrm>
            <a:off x="3621024" y="2029968"/>
            <a:ext cx="566928" cy="566928"/>
          </a:xfrm>
          <a:prstGeom prst="rect">
            <a:avLst/>
          </a:prstGeom>
          <a:solidFill>
            <a:schemeClr val="accent1"/>
          </a:solidFill>
          <a:ln/>
          <a:effectLst>
            <a:outerShdw blurRad="88900" dist="25400" dir="5400000" algn="bl" rotWithShape="0">
              <a:srgbClr val="000000">
                <a:alpha val="18000"/>
              </a:srgbClr>
            </a:outerShdw>
          </a:effectLst>
        </p:spPr>
      </p:sp>
      <p:pic>
        <p:nvPicPr>
          <p:cNvPr id="12" name="Image 1" descr="LuTrendingUp"/>
          <p:cNvPicPr>
            <a:picLocks noChangeAspect="1"/>
          </p:cNvPicPr>
          <p:nvPr/>
        </p:nvPicPr>
        <p:blipFill>
          <a:blip r:embed="rId4"/>
          <a:stretch>
            <a:fillRect/>
          </a:stretch>
        </p:blipFill>
        <p:spPr>
          <a:xfrm>
            <a:off x="3745748" y="2154692"/>
            <a:ext cx="317480" cy="317480"/>
          </a:xfrm>
          <a:prstGeom prst="rect">
            <a:avLst/>
          </a:prstGeom>
        </p:spPr>
      </p:pic>
      <p:sp>
        <p:nvSpPr>
          <p:cNvPr id="13" name="Text 9"/>
          <p:cNvSpPr txBox="1"/>
          <p:nvPr/>
        </p:nvSpPr>
        <p:spPr>
          <a:xfrm>
            <a:off x="3621024"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AT SCALE</a:t>
            </a:r>
            <a:endParaRPr lang="en-US" sz="1150" dirty="0"/>
          </a:p>
        </p:txBody>
      </p:sp>
      <p:sp>
        <p:nvSpPr>
          <p:cNvPr id="14" name="Text 10"/>
          <p:cNvSpPr txBox="1"/>
          <p:nvPr/>
        </p:nvSpPr>
        <p:spPr>
          <a:xfrm>
            <a:off x="3621024" y="3017520"/>
            <a:ext cx="2221992" cy="566928"/>
          </a:xfrm>
          <a:prstGeom prst="rect">
            <a:avLst/>
          </a:prstGeom>
          <a:noFill/>
          <a:ln/>
        </p:spPr>
        <p:txBody>
          <a:bodyPr wrap="square" lIns="0" tIns="0" rIns="0" bIns="0" rtlCol="0" anchor="ctr">
            <a:normAutofit/>
          </a:bodyPr>
          <a:lstStyle/>
          <a:p>
            <a:pPr marL="0" indent="0">
              <a:buNone/>
            </a:pPr>
            <a:r>
              <a:rPr lang="en-US" sz="3000" b="1" dirty="0">
                <a:solidFill>
                  <a:schemeClr val="tx2"/>
                </a:solidFill>
                <a:latin typeface="Georgia" pitchFamily="34" charset="0"/>
                <a:ea typeface="Georgia" pitchFamily="34" charset="-122"/>
                <a:cs typeface="Georgia" pitchFamily="34" charset="-120"/>
              </a:rPr>
              <a:t>৳118 crore</a:t>
            </a:r>
            <a:endParaRPr lang="en-US" sz="3000" dirty="0"/>
          </a:p>
        </p:txBody>
      </p:sp>
      <p:sp>
        <p:nvSpPr>
          <p:cNvPr id="15" name="Text 11"/>
          <p:cNvSpPr txBox="1"/>
          <p:nvPr/>
        </p:nvSpPr>
        <p:spPr>
          <a:xfrm>
            <a:off x="3621024"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more to farmers in a normal year at year-3 scale: 2.4 million sacks × ৳492 (an illustration, not a forecast)</a:t>
            </a:r>
            <a:endParaRPr lang="en-US" sz="1450" dirty="0"/>
          </a:p>
        </p:txBody>
      </p:sp>
      <p:sp>
        <p:nvSpPr>
          <p:cNvPr id="16" name="Impact 3"/>
          <p:cNvSpPr/>
          <p:nvPr/>
        </p:nvSpPr>
        <p:spPr>
          <a:xfrm>
            <a:off x="6181344"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Sprout tile"/>
          <p:cNvSpPr/>
          <p:nvPr/>
        </p:nvSpPr>
        <p:spPr>
          <a:xfrm>
            <a:off x="6437376"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18" name="Image 2" descr="LuSprout"/>
          <p:cNvPicPr>
            <a:picLocks noChangeAspect="1"/>
          </p:cNvPicPr>
          <p:nvPr/>
        </p:nvPicPr>
        <p:blipFill>
          <a:blip r:embed="rId5"/>
          <a:stretch>
            <a:fillRect/>
          </a:stretch>
        </p:blipFill>
        <p:spPr>
          <a:xfrm>
            <a:off x="6562100" y="2154692"/>
            <a:ext cx="317480" cy="317480"/>
          </a:xfrm>
          <a:prstGeom prst="rect">
            <a:avLst/>
          </a:prstGeom>
        </p:spPr>
      </p:pic>
      <p:sp>
        <p:nvSpPr>
          <p:cNvPr id="19" name="Text 14"/>
          <p:cNvSpPr txBox="1"/>
          <p:nvPr/>
        </p:nvSpPr>
        <p:spPr>
          <a:xfrm>
            <a:off x="6437376"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FOOD AND RESILIENCE</a:t>
            </a:r>
            <a:endParaRPr lang="en-US" sz="1150" dirty="0"/>
          </a:p>
        </p:txBody>
      </p:sp>
      <p:sp>
        <p:nvSpPr>
          <p:cNvPr id="20" name="Text 15"/>
          <p:cNvSpPr txBox="1"/>
          <p:nvPr/>
        </p:nvSpPr>
        <p:spPr>
          <a:xfrm>
            <a:off x="6437376" y="3017520"/>
            <a:ext cx="2221992" cy="566928"/>
          </a:xfrm>
          <a:prstGeom prst="rect">
            <a:avLst/>
          </a:prstGeom>
          <a:noFill/>
          <a:ln/>
        </p:spPr>
        <p:txBody>
          <a:bodyPr wrap="square" lIns="0" tIns="0" rIns="0" bIns="0" rtlCol="0" anchor="ctr">
            <a:normAutofit/>
          </a:bodyPr>
          <a:lstStyle/>
          <a:p>
            <a:pPr marL="0" indent="0">
              <a:buNone/>
            </a:pPr>
            <a:r>
              <a:rPr lang="en-US" sz="2200" b="1" dirty="0">
                <a:solidFill>
                  <a:schemeClr val="tx2"/>
                </a:solidFill>
                <a:latin typeface="Georgia" pitchFamily="34" charset="0"/>
                <a:ea typeface="Georgia" pitchFamily="34" charset="-122"/>
                <a:cs typeface="Georgia" pitchFamily="34" charset="-120"/>
              </a:rPr>
              <a:t>Less waste</a:t>
            </a:r>
            <a:endParaRPr lang="en-US" sz="2200" dirty="0"/>
          </a:p>
        </p:txBody>
      </p:sp>
      <p:sp>
        <p:nvSpPr>
          <p:cNvPr id="21" name="Text 16"/>
          <p:cNvSpPr txBox="1"/>
          <p:nvPr/>
        </p:nvSpPr>
        <p:spPr>
          <a:xfrm>
            <a:off x="6437376"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curing reminders, generator-backed storage, and no storing into a glut year</a:t>
            </a:r>
            <a:endParaRPr lang="en-US" sz="1450" dirty="0"/>
          </a:p>
        </p:txBody>
      </p:sp>
      <p:sp>
        <p:nvSpPr>
          <p:cNvPr id="22" name="Impact 4"/>
          <p:cNvSpPr/>
          <p:nvPr/>
        </p:nvSpPr>
        <p:spPr>
          <a:xfrm>
            <a:off x="8997696"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3" name="LuLandmark tile"/>
          <p:cNvSpPr/>
          <p:nvPr/>
        </p:nvSpPr>
        <p:spPr>
          <a:xfrm>
            <a:off x="9253728"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24" name="Image 3" descr="LuLandmark"/>
          <p:cNvPicPr>
            <a:picLocks noChangeAspect="1"/>
          </p:cNvPicPr>
          <p:nvPr/>
        </p:nvPicPr>
        <p:blipFill>
          <a:blip r:embed="rId6"/>
          <a:stretch>
            <a:fillRect/>
          </a:stretch>
        </p:blipFill>
        <p:spPr>
          <a:xfrm>
            <a:off x="9378452" y="2154692"/>
            <a:ext cx="317480" cy="317480"/>
          </a:xfrm>
          <a:prstGeom prst="rect">
            <a:avLst/>
          </a:prstGeom>
        </p:spPr>
      </p:pic>
      <p:sp>
        <p:nvSpPr>
          <p:cNvPr id="25" name="Text 19"/>
          <p:cNvSpPr txBox="1"/>
          <p:nvPr/>
        </p:nvSpPr>
        <p:spPr>
          <a:xfrm>
            <a:off x="9253728"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GOVERNMENT</a:t>
            </a:r>
            <a:endParaRPr lang="en-US" sz="1150" dirty="0"/>
          </a:p>
        </p:txBody>
      </p:sp>
      <p:sp>
        <p:nvSpPr>
          <p:cNvPr id="26" name="Text 20"/>
          <p:cNvSpPr txBox="1"/>
          <p:nvPr/>
        </p:nvSpPr>
        <p:spPr>
          <a:xfrm>
            <a:off x="9253728" y="3017520"/>
            <a:ext cx="2221992" cy="566928"/>
          </a:xfrm>
          <a:prstGeom prst="rect">
            <a:avLst/>
          </a:prstGeom>
          <a:noFill/>
          <a:ln/>
        </p:spPr>
        <p:txBody>
          <a:bodyPr wrap="square" lIns="0" tIns="0" rIns="0" bIns="0" rtlCol="0" anchor="ctr">
            <a:normAutofit/>
          </a:bodyPr>
          <a:lstStyle/>
          <a:p>
            <a:pPr marL="0" indent="0">
              <a:buNone/>
            </a:pPr>
            <a:r>
              <a:rPr lang="en-US" sz="2200" b="1" dirty="0">
                <a:solidFill>
                  <a:schemeClr val="tx2"/>
                </a:solidFill>
                <a:latin typeface="Georgia" pitchFamily="34" charset="0"/>
                <a:ea typeface="Georgia" pitchFamily="34" charset="-122"/>
                <a:cs typeface="Georgia" pitchFamily="34" charset="-120"/>
              </a:rPr>
              <a:t>Stock it can see</a:t>
            </a:r>
            <a:endParaRPr lang="en-US" sz="2200" dirty="0"/>
          </a:p>
        </p:txBody>
      </p:sp>
      <p:sp>
        <p:nvSpPr>
          <p:cNvPr id="27" name="Text 21"/>
          <p:cNvSpPr txBox="1"/>
          <p:nvPr/>
        </p:nvSpPr>
        <p:spPr>
          <a:xfrm>
            <a:off x="9253728"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a glut warning from crop data, receipts with a name, district figures from farmers who agree</a:t>
            </a:r>
            <a:endParaRPr lang="en-US" sz="1450" dirty="0"/>
          </a:p>
        </p:txBody>
      </p:sp>
      <p:sp>
        <p:nvSpPr>
          <p:cNvPr id="28" name="Inclusion band"/>
          <p:cNvSpPr/>
          <p:nvPr/>
        </p:nvSpPr>
        <p:spPr>
          <a:xfrm>
            <a:off x="548640" y="5212080"/>
            <a:ext cx="11094415" cy="960120"/>
          </a:xfrm>
          <a:prstGeom prst="rect">
            <a:avLst/>
          </a:prstGeom>
          <a:solidFill>
            <a:schemeClr val="tx2"/>
          </a:solidFill>
          <a:ln/>
          <a:effectLst>
            <a:outerShdw blurRad="88900" dist="25400" dir="5400000" algn="bl" rotWithShape="0">
              <a:srgbClr val="000000">
                <a:alpha val="14000"/>
              </a:srgbClr>
            </a:outerShdw>
          </a:effectLst>
        </p:spPr>
      </p:sp>
      <p:sp>
        <p:nvSpPr>
          <p:cNvPr id="29" name="LuSmartphone tile"/>
          <p:cNvSpPr/>
          <p:nvPr/>
        </p:nvSpPr>
        <p:spPr>
          <a:xfrm>
            <a:off x="804672" y="5413248"/>
            <a:ext cx="548640" cy="548640"/>
          </a:xfrm>
          <a:prstGeom prst="rect">
            <a:avLst/>
          </a:prstGeom>
          <a:solidFill>
            <a:schemeClr val="accent1"/>
          </a:solidFill>
          <a:ln/>
          <a:effectLst>
            <a:outerShdw blurRad="88900" dist="25400" dir="5400000" algn="bl" rotWithShape="0">
              <a:srgbClr val="000000">
                <a:alpha val="18000"/>
              </a:srgbClr>
            </a:outerShdw>
          </a:effectLst>
        </p:spPr>
      </p:sp>
      <p:pic>
        <p:nvPicPr>
          <p:cNvPr id="30" name="Image 4" descr="LuSmartphone"/>
          <p:cNvPicPr>
            <a:picLocks noChangeAspect="1"/>
          </p:cNvPicPr>
          <p:nvPr/>
        </p:nvPicPr>
        <p:blipFill>
          <a:blip r:embed="rId7"/>
          <a:stretch>
            <a:fillRect/>
          </a:stretch>
        </p:blipFill>
        <p:spPr>
          <a:xfrm>
            <a:off x="925373" y="5533949"/>
            <a:ext cx="307238" cy="307238"/>
          </a:xfrm>
          <a:prstGeom prst="rect">
            <a:avLst/>
          </a:prstGeom>
        </p:spPr>
      </p:pic>
      <p:sp>
        <p:nvSpPr>
          <p:cNvPr id="31" name="Text 24"/>
          <p:cNvSpPr txBox="1"/>
          <p:nvPr/>
        </p:nvSpPr>
        <p:spPr>
          <a:xfrm>
            <a:off x="1554480" y="5212080"/>
            <a:ext cx="9814255" cy="960120"/>
          </a:xfrm>
          <a:prstGeom prst="rect">
            <a:avLst/>
          </a:prstGeom>
          <a:noFill/>
          <a:ln/>
        </p:spPr>
        <p:txBody>
          <a:bodyPr wrap="square" lIns="0" tIns="0" rIns="0" bIns="0" rtlCol="0" anchor="ctr"/>
          <a:lstStyle/>
          <a:p>
            <a:pPr marL="0" indent="0">
              <a:buNone/>
            </a:pPr>
            <a:r>
              <a:rPr lang="en-US" sz="1600" b="1" dirty="0">
                <a:solidFill>
                  <a:schemeClr val="accent1"/>
                </a:solidFill>
              </a:rPr>
              <a:t>Built for farmers like the one in our video, who can't read an SMS: </a:t>
            </a:r>
            <a:r>
              <a:rPr lang="en-US" sz="1600" dirty="0">
                <a:solidFill>
                  <a:schemeClr val="bg1"/>
                </a:solidFill>
              </a:rPr>
              <a:t>a voice call in his own dialect, a two-number USSD menu. Any button phone, no internet.</a:t>
            </a:r>
            <a:endParaRPr lang="en-US" sz="1600" dirty="0"/>
          </a:p>
        </p:txBody>
      </p:sp>
      <p:sp>
        <p:nvSpPr>
          <p:cNvPr id="3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Farmer still" descr="The farmer from our field video"/>
          <p:cNvPicPr>
            <a:picLocks noChangeAspect="1"/>
          </p:cNvPicPr>
          <p:nvPr/>
        </p:nvPicPr>
        <p:blipFill>
          <a:blip r:embed="rId3"/>
          <a:stretch>
            <a:fillRect/>
          </a:stretch>
        </p:blipFill>
        <p:spPr>
          <a:xfrm>
            <a:off x="0" y="0"/>
            <a:ext cx="4873752" cy="6858000"/>
          </a:xfrm>
          <a:prstGeom prst="rect">
            <a:avLst/>
          </a:prstGeom>
        </p:spPr>
      </p:pic>
      <p:sp>
        <p:nvSpPr>
          <p:cNvPr id="3" name="Text 0"/>
          <p:cNvSpPr txBox="1"/>
          <p:nvPr/>
        </p:nvSpPr>
        <p:spPr>
          <a:xfrm>
            <a:off x="5468112" y="685800"/>
            <a:ext cx="6174943" cy="292608"/>
          </a:xfrm>
          <a:prstGeom prst="rect">
            <a:avLst/>
          </a:prstGeom>
          <a:noFill/>
          <a:ln/>
        </p:spPr>
        <p:txBody>
          <a:bodyPr wrap="square" lIns="0" tIns="0" rIns="0" bIns="0" rtlCol="0" anchor="t"/>
          <a:lstStyle/>
          <a:p>
            <a:pPr marL="0" indent="0">
              <a:buNone/>
            </a:pPr>
            <a:r>
              <a:rPr lang="en-US" sz="1300" b="1" kern="0" spc="300" dirty="0">
                <a:solidFill>
                  <a:schemeClr val="accent1"/>
                </a:solidFill>
              </a:rPr>
              <a:t>NEXT MARCH</a:t>
            </a:r>
            <a:endParaRPr lang="en-US" sz="1300" dirty="0"/>
          </a:p>
        </p:txBody>
      </p:sp>
      <p:sp>
        <p:nvSpPr>
          <p:cNvPr id="4" name="Text 1"/>
          <p:cNvSpPr txBox="1"/>
          <p:nvPr/>
        </p:nvSpPr>
        <p:spPr>
          <a:xfrm>
            <a:off x="5468112" y="1078992"/>
            <a:ext cx="6174943" cy="2240280"/>
          </a:xfrm>
          <a:prstGeom prst="rect">
            <a:avLst/>
          </a:prstGeom>
          <a:noFill/>
          <a:ln/>
        </p:spPr>
        <p:txBody>
          <a:bodyPr wrap="square" lIns="0" tIns="0" rIns="0" bIns="0" rtlCol="0" anchor="t"/>
          <a:lstStyle/>
          <a:p>
            <a:pPr marL="0" indent="0">
              <a:buNone/>
            </a:pPr>
            <a:r>
              <a:rPr lang="en-US" sz="2800" b="1" dirty="0">
                <a:solidFill>
                  <a:schemeClr val="bg1"/>
                </a:solidFill>
                <a:latin typeface="Georgia" pitchFamily="34" charset="0"/>
                <a:ea typeface="Georgia" pitchFamily="34" charset="-122"/>
                <a:cs typeface="Georgia" pitchFamily="34" charset="-120"/>
              </a:rPr>
              <a:t>He will ask the same question. This time he gets the sums, the cash to wait, and a receipt with his own name on it.</a:t>
            </a:r>
            <a:endParaRPr lang="en-US" sz="2800" dirty="0"/>
          </a:p>
        </p:txBody>
      </p:sp>
      <p:sp>
        <p:nvSpPr>
          <p:cNvPr id="5" name="Text 2"/>
          <p:cNvSpPr txBox="1"/>
          <p:nvPr/>
        </p:nvSpPr>
        <p:spPr>
          <a:xfrm>
            <a:off x="5468112" y="3310128"/>
            <a:ext cx="6174943" cy="868680"/>
          </a:xfrm>
          <a:prstGeom prst="rect">
            <a:avLst/>
          </a:prstGeom>
          <a:noFill/>
          <a:ln/>
        </p:spPr>
        <p:txBody>
          <a:bodyPr wrap="square" lIns="0" tIns="0" rIns="0" bIns="0" rtlCol="0" anchor="t"/>
          <a:lstStyle/>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আলু রাখবেন না বেচবেন, কবে বেচবেন:</a:t>
            </a:r>
            <a:endParaRPr lang="en-US" sz="2000" dirty="0"/>
          </a:p>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হিসাব করে বলে কৃষিভল্ট।</a:t>
            </a:r>
            <a:endParaRPr lang="en-US" sz="2000" dirty="0"/>
          </a:p>
        </p:txBody>
      </p:sp>
      <p:sp>
        <p:nvSpPr>
          <p:cNvPr id="6" name="Text 3"/>
          <p:cNvSpPr txBox="1"/>
          <p:nvPr/>
        </p:nvSpPr>
        <p:spPr>
          <a:xfrm>
            <a:off x="5468112" y="4206240"/>
            <a:ext cx="6174943" cy="365760"/>
          </a:xfrm>
          <a:prstGeom prst="rect">
            <a:avLst/>
          </a:prstGeom>
          <a:noFill/>
          <a:ln/>
        </p:spPr>
        <p:txBody>
          <a:bodyPr wrap="square" lIns="0" tIns="0" rIns="0" bIns="0" rtlCol="0" anchor="t"/>
          <a:lstStyle/>
          <a:p>
            <a:pPr marL="0" indent="0">
              <a:buNone/>
            </a:pPr>
            <a:r>
              <a:rPr lang="en-US" sz="1500" i="1" dirty="0">
                <a:solidFill>
                  <a:srgbClr val="D7E3DA"/>
                </a:solidFill>
              </a:rPr>
              <a:t>Store or sell, and until when: KrishiVault does the sums.</a:t>
            </a:r>
            <a:endParaRPr lang="en-US" sz="1500" dirty="0"/>
          </a:p>
        </p:txBody>
      </p:sp>
      <p:sp>
        <p:nvSpPr>
          <p:cNvPr id="7" name="Ask card"/>
          <p:cNvSpPr/>
          <p:nvPr/>
        </p:nvSpPr>
        <p:spPr>
          <a:xfrm>
            <a:off x="5468112" y="4754880"/>
            <a:ext cx="6174943" cy="1188720"/>
          </a:xfrm>
          <a:prstGeom prst="rect">
            <a:avLst/>
          </a:prstGeom>
          <a:solidFill>
            <a:schemeClr val="accent1"/>
          </a:solidFill>
          <a:ln/>
          <a:effectLst>
            <a:outerShdw blurRad="88900" dist="25400" dir="5400000" algn="bl" rotWithShape="0">
              <a:srgbClr val="000000">
                <a:alpha val="35000"/>
              </a:srgbClr>
            </a:outerShdw>
          </a:effectLst>
        </p:spPr>
      </p:sp>
      <p:sp>
        <p:nvSpPr>
          <p:cNvPr id="8" name="Text 5"/>
          <p:cNvSpPr txBox="1"/>
          <p:nvPr/>
        </p:nvSpPr>
        <p:spPr>
          <a:xfrm>
            <a:off x="5742432" y="4892040"/>
            <a:ext cx="2743200" cy="256032"/>
          </a:xfrm>
          <a:prstGeom prst="rect">
            <a:avLst/>
          </a:prstGeom>
          <a:noFill/>
          <a:ln/>
        </p:spPr>
        <p:txBody>
          <a:bodyPr wrap="square" lIns="0" tIns="0" rIns="0" bIns="0" rtlCol="0" anchor="t"/>
          <a:lstStyle/>
          <a:p>
            <a:pPr marL="0" indent="0">
              <a:buNone/>
            </a:pPr>
            <a:r>
              <a:rPr lang="en-US" sz="1200" b="1" kern="0" spc="300" dirty="0">
                <a:solidFill>
                  <a:schemeClr val="tx2"/>
                </a:solidFill>
              </a:rPr>
              <a:t>OUR ASK</a:t>
            </a:r>
            <a:endParaRPr lang="en-US" sz="1200" dirty="0"/>
          </a:p>
        </p:txBody>
      </p:sp>
      <p:sp>
        <p:nvSpPr>
          <p:cNvPr id="9" name="Text 6"/>
          <p:cNvSpPr txBox="1"/>
          <p:nvPr/>
        </p:nvSpPr>
        <p:spPr>
          <a:xfrm>
            <a:off x="5742432" y="5166360"/>
            <a:ext cx="5672023" cy="685800"/>
          </a:xfrm>
          <a:prstGeom prst="rect">
            <a:avLst/>
          </a:prstGeom>
          <a:noFill/>
          <a:ln/>
        </p:spPr>
        <p:txBody>
          <a:bodyPr wrap="square" lIns="0" tIns="0" rIns="0" bIns="0" rtlCol="0" anchor="t"/>
          <a:lstStyle/>
          <a:p>
            <a:pPr marL="0" indent="0">
              <a:buNone/>
            </a:pPr>
            <a:r>
              <a:rPr lang="en-US" sz="1600" b="1" dirty="0">
                <a:solidFill>
                  <a:schemeClr val="tx2"/>
                </a:solidFill>
              </a:rPr>
              <a:t>Help us open the first cold storage and the first lender in Kahaloo, on Grameenphone's voice line.</a:t>
            </a:r>
            <a:endParaRPr lang="en-US" sz="1600" dirty="0"/>
          </a:p>
        </p:txBody>
      </p:sp>
      <p:sp>
        <p:nvSpPr>
          <p:cNvPr id="10" name="Close link">
            <a:hlinkClick r:id="rId4" tooltip="Open the KrishiVault prototype"/>
          </p:cNvPr>
          <p:cNvSpPr txBox="1"/>
          <p:nvPr/>
        </p:nvSpPr>
        <p:spPr>
          <a:xfrm>
            <a:off x="5468112" y="6217920"/>
            <a:ext cx="3657600" cy="320040"/>
          </a:xfrm>
          <a:prstGeom prst="rect">
            <a:avLst/>
          </a:prstGeom>
          <a:noFill/>
          <a:ln/>
        </p:spPr>
        <p:txBody>
          <a:bodyPr wrap="square" lIns="0" tIns="0" rIns="0" bIns="0" rtlCol="0" anchor="t"/>
          <a:lstStyle/>
          <a:p>
            <a:pPr marL="0" indent="0">
              <a:buNone/>
            </a:pPr>
            <a:r>
              <a:rPr lang="en-US" sz="1400" dirty="0">
                <a:solidFill>
                  <a:srgbClr val="A9BDB0"/>
                </a:solidFill>
              </a:rPr>
              <a:t>Try it: </a:t>
            </a:r>
            <a:r>
              <a:rPr lang="en-US" sz="1400" b="1" u="sng" dirty="0">
                <a:solidFill>
                  <a:schemeClr val="accent1"/>
                </a:solidFill>
              </a:rPr>
              <a:t>koryu.ninja</a:t>
            </a:r>
            <a:endParaRPr lang="en-US" sz="1400" dirty="0"/>
          </a:p>
        </p:txBody>
      </p:sp>
    </p:spTree>
  </p:cSld>
  <p:clrMapOvr>
    <a:masterClrMapping/>
  </p:clrMapOvr>
</p:sld>
</file>

<file path=ppt/theme/theme1.xml><?xml version="1.0" encoding="utf-8"?>
<a:theme xmlns:a="http://schemas.openxmlformats.org/drawingml/2006/main" name="KrishiVault Harvest">
  <a:themeElements>
    <a:clrScheme name="KrishiVault Harvest">
      <a:dk1>
        <a:srgbClr val="12241B"/>
      </a:dk1>
      <a:lt1>
        <a:srgbClr val="FFFFFF"/>
      </a:lt1>
      <a:dk2>
        <a:srgbClr val="0F3323"/>
      </a:dk2>
      <a:lt2>
        <a:srgbClr val="F1F5EF"/>
      </a:lt2>
      <a:accent1>
        <a:srgbClr val="E8A317"/>
      </a:accent1>
      <a:accent2>
        <a:srgbClr val="2E7D4F"/>
      </a:accent2>
      <a:accent3>
        <a:srgbClr val="B5402B"/>
      </a:accent3>
      <a:accent4>
        <a:srgbClr val="8A6743"/>
      </a:accent4>
      <a:accent5>
        <a:srgbClr val="1F78B4"/>
      </a:accent5>
      <a:accent6>
        <a:srgbClr val="66766D"/>
      </a:accent6>
      <a:hlink>
        <a:srgbClr val="E8A317"/>
      </a:hlink>
      <a:folHlink>
        <a:srgbClr val="E8A317"/>
      </a:folHlink>
    </a:clrScheme>
    <a:fontScheme name="KrishiVault Harv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1960</Words>
  <Application>Microsoft Office PowerPoint</Application>
  <PresentationFormat>Widescreen</PresentationFormat>
  <Paragraphs>259</Paragraphs>
  <Slides>10</Slides>
  <Notes>10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Georgia</vt:lpstr>
      <vt:lpstr>Nirmala UI</vt:lpstr>
      <vt:lpstr>KrishiVault Harvest</vt:lpstr>
      <vt:lpstr>PowerPoint Presentation</vt:lpstr>
      <vt:lpstr>The price rise is real. It never reaches the farmer.</vt:lpstr>
      <vt:lpstr>One service that answers each trap</vt:lpstr>
      <vt:lpstr>One call turns a harvest into a plan, and the cash to wait</vt:lpstr>
      <vt:lpstr>AI listens and speaks Bangla. Exact sums decide.</vt:lpstr>
      <vt:lpstr>Tested on two real seasons it had never seen</vt:lpstr>
      <vt:lpstr>Others solve one piece. KrishiVault closes the loop.</vt:lpstr>
      <vt:lpstr>Pilot in Kahaloo next harvest. Break even in year two.</vt:lpstr>
      <vt:lpstr>When farmers can wait, the whole chain gets fairer</vt:lpstr>
      <vt:lpstr>PowerPoint Presentation</vt:lpstr>
    </vt:vector>
  </TitlesOfParts>
  <Company>KrishiVault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KrishiVault: store or sell, and until when?</dc:title>
  <dc:subject>GP FutureMakers 2026 concept pitch</dc:subject>
  <dc:creator>Team KrishiVault</dc:creator>
  <cp:lastModifiedBy>P10435</cp:lastModifiedBy>
  <cp:revision>2</cp:revision>
  <dcterms:created xsi:type="dcterms:W3CDTF">2026-10-16T05:03:28Z</dcterms:created>
  <dcterms:modified xsi:type="dcterms:W3CDTF">2026-10-16T05:03:31Z</dcterms:modified>
</cp:coreProperties>
</file>